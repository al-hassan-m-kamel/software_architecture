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25"/>
  </p:notesMasterIdLst>
  <p:handoutMasterIdLst>
    <p:handoutMasterId r:id="rId26"/>
  </p:handoutMasterIdLst>
  <p:sldIdLst>
    <p:sldId id="290" r:id="rId5"/>
    <p:sldId id="291" r:id="rId6"/>
    <p:sldId id="292" r:id="rId7"/>
    <p:sldId id="293" r:id="rId8"/>
    <p:sldId id="294" r:id="rId9"/>
    <p:sldId id="298" r:id="rId10"/>
    <p:sldId id="311" r:id="rId11"/>
    <p:sldId id="310" r:id="rId12"/>
    <p:sldId id="312" r:id="rId13"/>
    <p:sldId id="303" r:id="rId14"/>
    <p:sldId id="304" r:id="rId15"/>
    <p:sldId id="276" r:id="rId16"/>
    <p:sldId id="264" r:id="rId17"/>
    <p:sldId id="305" r:id="rId18"/>
    <p:sldId id="306" r:id="rId19"/>
    <p:sldId id="307" r:id="rId20"/>
    <p:sldId id="308" r:id="rId21"/>
    <p:sldId id="309" r:id="rId22"/>
    <p:sldId id="313" r:id="rId23"/>
    <p:sldId id="26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9" autoAdjust="0"/>
    <p:restoredTop sz="80865" autoAdjust="0"/>
  </p:normalViewPr>
  <p:slideViewPr>
    <p:cSldViewPr snapToGrid="0">
      <p:cViewPr varScale="1">
        <p:scale>
          <a:sx n="63" d="100"/>
          <a:sy n="63" d="100"/>
        </p:scale>
        <p:origin x="136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10008-270E-E058-DDC9-245FC9D43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C0B219-073B-94AC-EBB0-8F0E138CB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116E8-C705-CEAE-6859-1F60CD021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80F1B-5637-7127-464E-02BE8761E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478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CF01-93FA-0FA1-D17E-629BF9D4A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C018B-0D14-65B9-C3EB-681F3D584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7294E-2D1A-D2DF-377E-9E9473170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6BA3E-AF48-FEFA-261D-5C3FB5884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46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AC5D0-D20E-B6EB-020F-4CACCBC77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5D213-D932-5877-700E-B965BF2E1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1BB58-1FAD-CE08-A8E7-4257B858E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34C99-4691-8CCC-C969-45D5A46CE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18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E60D-C8EC-0E64-7B1B-F1A0841EB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85D06-151F-94C5-267B-EB40A844B5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74D5D0-27BD-15B0-D5C2-17A0FE115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627F4-FA09-BD48-C771-5586332B0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44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D8EE-1DEF-D2FB-64B8-6FE0CF65F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AB62A-AD47-0D27-59F5-B820199B1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3872B-6AE0-93C0-CA4D-F134565DE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43D97-2569-7A42-FB65-FE8E29E9B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62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9436A-5C95-31A7-7927-25749BD8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CB74A-D0E0-1EA6-79F3-B7C84F760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1B5A4F-2706-1E72-3A2D-6E23865FA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6CA9-854F-C016-EA08-773791280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993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76C0A-90F3-D67D-0FD7-1F0F8A1B3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A591C1-94A3-1C6C-DF49-01E58B27C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54FDD-26E4-3070-BC89-E335DE5E3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Solved the problem of monolithic applications by  separating the application into multiple deployable units (service components) that can be individually developed, tested, and deployed independent of other service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0F091-E7CE-AE45-4A5B-9EFC8A853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7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B0AD1-F423-0B5E-05B7-92F519A83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314549-2BCB-DE37-091A-6F54E1E45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0DC213-CBCA-5F9D-FC15-64C96D350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Solved the problem of monolithic applications by  separating the application into multiple deployable units (service components) that can be individually developed, tested, and deployed independent of other service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E2DD5-2B50-0F27-10D9-9F0809373E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825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2F9E-122D-E54A-DE3E-5B1D2D0B9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EEA9C-E7DF-F4E4-6C8F-313C45665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B22AB-EE94-DC4A-060E-F63B3CFE3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FB422-65A4-D810-C377-4F77DADF8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19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A996A-63A7-D119-522A-8623B1BB6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7A143-E624-FBF8-44E6-ABB528B4A5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BD74A-64E1-04F2-42B9-D535F7C23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6C465-A568-ACEC-6853-8D1EBA2D9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07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0BEEC-E8A8-42C7-73C7-11983100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1E73C-DDF5-3E89-4560-00476B5D0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6BFC0-B4E6-9BBA-CCAE-DDB3F0443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B5E126-4A12-C607-D491-F1E4B2C0D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5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7CD1D-79BA-956F-0A82-723F4FD75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E38ED-971C-8F19-20C4-569317F90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FA740-1E6C-AD41-9579-87A510C6B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53899-3622-9AAC-64E4-E7D7A54DA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53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A76A-C2C2-4D30-7F5B-072CDA9BD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E7876-20BD-D452-ABE9-3D4CA0B355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5730D-B734-E840-513E-2D7CFDCFE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8B7D2-0424-55A1-B3A9-49D1803FD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4429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433E1-423B-9AFA-3314-2B31D44F7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23B560-5D7A-AB25-0B57-BACF4F5D7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43410-699E-1E68-ABC5-21EB4BC5A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A1D54-C2EB-3D5F-76C3-19AD832D8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26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6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895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38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121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0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26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83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83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6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895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4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056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528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7566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539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65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5" r:id="rId15"/>
    <p:sldLayoutId id="214748369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developer.mozilla.org/en-US/docs/Web/HTTP/Guides/Message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developer.mozilla.org/en-US/docs/Web/HTTP/Reference/Statu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developer.mozilla.org/en-US/docs/Web/HTTP/Reference/Methods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5286" y="779319"/>
            <a:ext cx="5427584" cy="2142764"/>
          </a:xfrm>
        </p:spPr>
        <p:txBody>
          <a:bodyPr/>
          <a:lstStyle/>
          <a:p>
            <a:r>
              <a:rPr lang="en-US" cap="none" dirty="0"/>
              <a:t>Software Architecture And Design</a:t>
            </a:r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" r="72"/>
          <a:stretch/>
        </p:blipFill>
        <p:spPr/>
      </p:pic>
      <p:sp>
        <p:nvSpPr>
          <p:cNvPr id="2" name="Title 8">
            <a:extLst>
              <a:ext uri="{FF2B5EF4-FFF2-40B4-BE49-F238E27FC236}">
                <a16:creationId xmlns:a16="http://schemas.microsoft.com/office/drawing/2014/main" id="{E6AD96E2-40EB-B511-6347-BBBD4C981743}"/>
              </a:ext>
            </a:extLst>
          </p:cNvPr>
          <p:cNvSpPr txBox="1">
            <a:spLocks/>
          </p:cNvSpPr>
          <p:nvPr/>
        </p:nvSpPr>
        <p:spPr>
          <a:xfrm>
            <a:off x="905959" y="3429000"/>
            <a:ext cx="5427584" cy="214276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i="1" kern="1200" cap="all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cap="none" dirty="0"/>
              <a:t>Sec.1</a:t>
            </a:r>
          </a:p>
          <a:p>
            <a:r>
              <a:rPr lang="en-US" sz="2400" cap="none" dirty="0"/>
              <a:t>Eng. Al-</a:t>
            </a:r>
            <a:r>
              <a:rPr lang="en-US" sz="2400" cap="none" dirty="0" err="1"/>
              <a:t>hassan</a:t>
            </a:r>
            <a:r>
              <a:rPr lang="en-US" sz="2400" cap="none" dirty="0"/>
              <a:t> Mohamed</a:t>
            </a:r>
          </a:p>
          <a:p>
            <a:r>
              <a:rPr lang="en-US" sz="2400" cap="none" dirty="0"/>
              <a:t>Eng. Mariam Malak</a:t>
            </a:r>
          </a:p>
        </p:txBody>
      </p:sp>
    </p:spTree>
    <p:extLst>
      <p:ext uri="{BB962C8B-B14F-4D97-AF65-F5344CB8AC3E}">
        <p14:creationId xmlns:p14="http://schemas.microsoft.com/office/powerpoint/2010/main" val="214551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  <a:p>
            <a:pPr marL="342900" indent="-342900">
              <a:buAutoNum type="arabicPeriod"/>
            </a:pPr>
            <a:r>
              <a:rPr lang="en-US" dirty="0"/>
              <a:t>Software architecture</a:t>
            </a:r>
          </a:p>
          <a:p>
            <a:pPr marL="342900" indent="-342900">
              <a:buAutoNum type="arabicPeriod"/>
            </a:pPr>
            <a:r>
              <a:rPr lang="en-US" dirty="0"/>
              <a:t>Flask </a:t>
            </a:r>
          </a:p>
          <a:p>
            <a:pPr marL="342900" indent="-342900">
              <a:buAutoNum type="arabicPeriod"/>
            </a:pPr>
            <a:r>
              <a:rPr lang="en-US" dirty="0"/>
              <a:t>Environment setup </a:t>
            </a:r>
          </a:p>
          <a:p>
            <a:pPr marL="342900" indent="-342900">
              <a:buAutoNum type="arabicPeriod"/>
            </a:pPr>
            <a:r>
              <a:rPr lang="en-US" dirty="0"/>
              <a:t>Small program (‘hello world’)</a:t>
            </a:r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182108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30629"/>
            <a:ext cx="9906000" cy="671944"/>
          </a:xfrm>
          <a:noFill/>
        </p:spPr>
        <p:txBody>
          <a:bodyPr/>
          <a:lstStyle/>
          <a:p>
            <a:r>
              <a:rPr lang="en-US" dirty="0"/>
              <a:t>Software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85" y="913812"/>
            <a:ext cx="10922851" cy="5666601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Software architecture is like the blueprint for building software, showing how different parts fit together and interact.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It helps the development team understand how to build the software according to customer requirements.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There are many ways to organize these parts, called software architecture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These patterns have been tested and proven to solve different problems by arranging components in specific ways.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Without a clear and well-defined architecture, most developers and architects will resort to the de facto standard traditional layered architecture pattern (also called the n-tier architecture), creating implicit layers by separating source-code modules into packages.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often results from this practice is a collection of unorganized source-code modules that lack clear roles, responsibilities, and relationships to one another. </a:t>
            </a: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[This is commonly referred to as the big ball of mud architecture anti-pattern. ]</a:t>
            </a:r>
          </a:p>
        </p:txBody>
      </p:sp>
    </p:spTree>
    <p:extLst>
      <p:ext uri="{BB962C8B-B14F-4D97-AF65-F5344CB8AC3E}">
        <p14:creationId xmlns:p14="http://schemas.microsoft.com/office/powerpoint/2010/main" val="158441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E8A7-7109-AC18-15CD-1754E182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43AB-E7DE-970A-D697-BA6CACEB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71944"/>
          </a:xfrm>
          <a:noFill/>
        </p:spPr>
        <p:txBody>
          <a:bodyPr/>
          <a:lstStyle/>
          <a:p>
            <a:r>
              <a:rPr lang="en-US" cap="none" dirty="0"/>
              <a:t>What is a software architecture?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B1CA85-7B82-EC29-F846-9FB3C7320DC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65414" y="1404257"/>
            <a:ext cx="11054443" cy="524147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Software Architecture is a high-level structure of the software system that includes the set of rules, patterns, and guidelines that dictate the organization, interactions, and the component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serves as blueprint ensuring that the system meets its requirements and it is maintainable and scalable.</a:t>
            </a:r>
          </a:p>
          <a:p>
            <a:r>
              <a:rPr lang="en-US" sz="2400" b="1" dirty="0"/>
              <a:t>Software architecture benefits:</a:t>
            </a:r>
          </a:p>
          <a:p>
            <a:pPr marL="342900" indent="-342900">
              <a:buAutoNum type="arabicPeriod"/>
            </a:pPr>
            <a:r>
              <a:rPr lang="en-US" b="1" dirty="0"/>
              <a:t>Modularity: </a:t>
            </a:r>
            <a:r>
              <a:rPr lang="en-US" dirty="0"/>
              <a:t>Software Architecture divides system into interchangeable components that can be developed, tested, and maintained independently.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dirty="0"/>
              <a:t>Encapsulation: </a:t>
            </a:r>
            <a:r>
              <a:rPr lang="en-US" dirty="0"/>
              <a:t>It helps to hide the details of the components, exposing only the necessary information, thus reducing the complexity of the system.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dirty="0"/>
              <a:t>Security: </a:t>
            </a:r>
            <a:r>
              <a:rPr lang="en-US" dirty="0"/>
              <a:t>It helps to incorporate measures to protect the system against the unauthorized access.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dirty="0"/>
              <a:t>Documentation: </a:t>
            </a:r>
            <a:r>
              <a:rPr lang="en-US" dirty="0"/>
              <a:t>Provides clear documentation of the system architecture, thus facilitating communication and better understanding of the system.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b="1" dirty="0"/>
              <a:t>Performance: </a:t>
            </a:r>
            <a:r>
              <a:rPr lang="en-US" dirty="0"/>
              <a:t>Software architecture helps to make sure that the system meets the required performance metrics such as resource utilization, throughput, etc.</a:t>
            </a:r>
          </a:p>
          <a:p>
            <a:pPr marL="342900" indent="-342900">
              <a:buAutoNum type="arabicPeriod"/>
            </a:pPr>
            <a:endParaRPr lang="en-US" dirty="0"/>
          </a:p>
          <a:p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7436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23B8-596B-F6F1-67E8-8486C38C8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6F4F1-0543-4A6C-4C85-8D50DA13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414" y="0"/>
            <a:ext cx="10221686" cy="671944"/>
          </a:xfrm>
          <a:noFill/>
        </p:spPr>
        <p:txBody>
          <a:bodyPr/>
          <a:lstStyle/>
          <a:p>
            <a:r>
              <a:rPr lang="en-US" cap="none" dirty="0"/>
              <a:t>Software Architecture Pattern vs Design Pattern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C5CF14-36A6-EC79-2775-E8D8ADE6E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024209"/>
              </p:ext>
            </p:extLst>
          </p:nvPr>
        </p:nvGraphicFramePr>
        <p:xfrm>
          <a:off x="473532" y="829728"/>
          <a:ext cx="10956468" cy="585249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2905845">
                  <a:extLst>
                    <a:ext uri="{9D8B030D-6E8A-4147-A177-3AD203B41FA5}">
                      <a16:colId xmlns:a16="http://schemas.microsoft.com/office/drawing/2014/main" val="690149816"/>
                    </a:ext>
                  </a:extLst>
                </a:gridCol>
                <a:gridCol w="3718603">
                  <a:extLst>
                    <a:ext uri="{9D8B030D-6E8A-4147-A177-3AD203B41FA5}">
                      <a16:colId xmlns:a16="http://schemas.microsoft.com/office/drawing/2014/main" val="439610181"/>
                    </a:ext>
                  </a:extLst>
                </a:gridCol>
                <a:gridCol w="4332020">
                  <a:extLst>
                    <a:ext uri="{9D8B030D-6E8A-4147-A177-3AD203B41FA5}">
                      <a16:colId xmlns:a16="http://schemas.microsoft.com/office/drawing/2014/main" val="220960055"/>
                    </a:ext>
                  </a:extLst>
                </a:gridCol>
              </a:tblGrid>
              <a:tr h="80269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Features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Software Architecture Pattern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 Pattern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8903347"/>
                  </a:ext>
                </a:extLst>
              </a:tr>
              <a:tr h="999829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Definition 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spcAft>
                          <a:spcPts val="750"/>
                        </a:spcAft>
                        <a:buNone/>
                      </a:pPr>
                      <a:br>
                        <a:rPr lang="en-US" sz="1800" b="0" dirty="0">
                          <a:effectLst/>
                          <a:latin typeface="Nunito" pitchFamily="2" charset="0"/>
                        </a:rPr>
                      </a:br>
                      <a:r>
                        <a:rPr lang="en-US" sz="1800" b="0" dirty="0">
                          <a:effectLst/>
                          <a:latin typeface="Nunito" pitchFamily="2" charset="0"/>
                        </a:rPr>
                        <a:t>This is a high-level structure of the entire system.</a:t>
                      </a:r>
                    </a:p>
                  </a:txBody>
                  <a:tcPr marL="76200" marR="76200" marT="106680" marB="1066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a low-level solutions for common software design problems within components.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57088"/>
                  </a:ext>
                </a:extLst>
              </a:tr>
              <a:tr h="8026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Scope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Broad, covers entire system.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Narrow, focuses on individual components.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0195413"/>
                  </a:ext>
                </a:extLst>
              </a:tr>
              <a:tr h="8026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Purpose 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Establish entire system layout.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Provide reusable solutions for the recurring problems within a systems' implementation.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382406"/>
                  </a:ext>
                </a:extLst>
              </a:tr>
              <a:tr h="8026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System stability, structural organization.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Behavioral and structural aspects within components.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361504"/>
                  </a:ext>
                </a:extLst>
              </a:tr>
              <a:tr h="8026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Documentation 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involves architectural diagrams and high-level design documents.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includes UML diagrams, detailed design specifications.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5572427"/>
                  </a:ext>
                </a:extLst>
              </a:tr>
              <a:tr h="80269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Examples  </a:t>
                      </a: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Layered Architecture, Microservices, Client-Server.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Singleton, Factory, Strategy, Observer.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690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865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2BF03A-EE5A-ACF4-A169-B8ADE7E5C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9C9F3D4-F187-74FF-D818-CD5A45F4BA41}"/>
              </a:ext>
            </a:extLst>
          </p:cNvPr>
          <p:cNvSpPr txBox="1">
            <a:spLocks/>
          </p:cNvSpPr>
          <p:nvPr/>
        </p:nvSpPr>
        <p:spPr>
          <a:xfrm>
            <a:off x="462686" y="892065"/>
            <a:ext cx="6239224" cy="5733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Advantages:</a:t>
            </a:r>
          </a:p>
          <a:p>
            <a:pPr fontAlgn="base"/>
            <a:r>
              <a:rPr lang="en-US" sz="1400" b="1"/>
              <a:t>1. </a:t>
            </a:r>
            <a:r>
              <a:rPr lang="en-US" b="1"/>
              <a:t>Scalability:</a:t>
            </a:r>
            <a:r>
              <a:rPr lang="en-US"/>
              <a:t> Individual layers in the architecture can be scaled independently to meet performance needs.</a:t>
            </a:r>
          </a:p>
          <a:p>
            <a:pPr fontAlgn="base"/>
            <a:r>
              <a:rPr lang="en-US" b="1"/>
              <a:t>2. Flexibility:</a:t>
            </a:r>
            <a:r>
              <a:rPr lang="en-US"/>
              <a:t> Different technologies can be used within each layer without affecting others.</a:t>
            </a:r>
          </a:p>
          <a:p>
            <a:pPr fontAlgn="base"/>
            <a:r>
              <a:rPr lang="en-US" b="1"/>
              <a:t>3. Maintainability: </a:t>
            </a:r>
            <a:r>
              <a:rPr lang="en-US"/>
              <a:t>Changes in one layer do not necessarily impact other layers, thus simplifying the maintenance.</a:t>
            </a:r>
          </a:p>
          <a:p>
            <a:pPr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Disadvantages: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Complexity: </a:t>
            </a:r>
            <a:r>
              <a:rPr lang="en-US"/>
              <a:t>Adding more layers to the architecture can make the system more complex and difficult to manage.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Performance Overhead: </a:t>
            </a:r>
            <a:r>
              <a:rPr lang="en-US"/>
              <a:t>Multiple layers can introduce latency due to additional communication between the layers.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Strict Layer Separation: </a:t>
            </a:r>
            <a:r>
              <a:rPr lang="en-US"/>
              <a:t>Strict layer separation can sometimes lead to inefficiencies and increased development effort.</a:t>
            </a:r>
          </a:p>
          <a:p>
            <a:pPr fontAlgn="base">
              <a:lnSpc>
                <a:spcPct val="90000"/>
              </a:lnSpc>
            </a:pPr>
            <a:endParaRPr lang="en-US" sz="1400" b="1"/>
          </a:p>
          <a:p>
            <a:pPr>
              <a:lnSpc>
                <a:spcPct val="90000"/>
              </a:lnSpc>
            </a:pPr>
            <a:endParaRPr lang="en-US" sz="14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351AFA-75E9-46D6-614F-C38F44C03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46FB4E2-0322-15D5-ED5A-74BD6DD64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77C6FF-EED1-642E-27B9-7436D3ABD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5C144A-CA71-361D-42E3-86C462C25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874665-71AA-E321-ED2B-52BFC015F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F070611-A37B-41F8-BAC4-26BEF6B0B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A190F79-7086-ABE1-6460-8550088DD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A17B5F3-1C9B-C351-11E1-9E988881E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81967-9390-FF9C-C969-942AE65CF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155" y="134730"/>
            <a:ext cx="10021408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Types of Software Architecture Patterns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EEB6728-6D1E-F96C-7665-B1139E16F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B6BBF9-006C-E7E1-F92E-6D59A3F06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B08BC3-6537-1AED-D66B-884C2326B5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56813" y="858131"/>
            <a:ext cx="6239224" cy="5883782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114300">
              <a:lnSpc>
                <a:spcPct val="9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1. Client-Server Architecture Pattern:</a:t>
            </a:r>
          </a:p>
          <a:p>
            <a:pPr marL="114300">
              <a:lnSpc>
                <a:spcPct val="90000"/>
              </a:lnSpc>
            </a:pPr>
            <a:r>
              <a:rPr lang="en-US" dirty="0"/>
              <a:t>The client-server pattern has two major entities. They are a server and multiple clients. Here the server has resources(data, files or services) and a client requests the server for a particular resource. Then the server processes the request and responds back accordingly.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Advantages: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/>
              <a:t>Centralized Management: </a:t>
            </a:r>
            <a:r>
              <a:rPr lang="en-US" dirty="0"/>
              <a:t>Servers can centrally manage resources, data, and security policies, thus simplifying the maintenance.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/>
              <a:t>Scalability: </a:t>
            </a:r>
            <a:r>
              <a:rPr lang="en-US" dirty="0"/>
              <a:t>Servers can be scaled up to handle increased client requests.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/>
              <a:t>Security: </a:t>
            </a:r>
            <a:r>
              <a:rPr lang="en-US" dirty="0"/>
              <a:t>Security measures such as access controls, data encryption can be implemented in a better way due to centralized controls.</a:t>
            </a:r>
            <a:endParaRPr lang="en-US" sz="1400" b="1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Disadvantages: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/>
              <a:t>Single Point of Failure: </a:t>
            </a:r>
            <a:r>
              <a:rPr lang="en-US" dirty="0"/>
              <a:t>Due to centralized server, if server fails clients lose access to services, leading loss of productivity.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/>
              <a:t>Costly: </a:t>
            </a:r>
            <a:r>
              <a:rPr lang="en-US" dirty="0"/>
              <a:t>Setting up and maintaining servers can be expensive due to hardware, software, and administrative costs.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 dirty="0"/>
              <a:t>Complexity: </a:t>
            </a:r>
            <a:r>
              <a:rPr lang="en-US" dirty="0"/>
              <a:t>Designing and managing a client-server architecture can be complex.</a:t>
            </a:r>
          </a:p>
          <a:p>
            <a:pPr>
              <a:lnSpc>
                <a:spcPct val="90000"/>
              </a:lnSpc>
            </a:pPr>
            <a:endParaRPr lang="en-US" sz="14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25C891-FCF6-BF1A-135D-BD65C891A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387" y="952152"/>
            <a:ext cx="5199927" cy="538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9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DE25B-F672-4B69-BC46-7F914C0B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EE7692-FE9F-519C-FDB1-F401A42AD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5CD24D-B3E5-3FA7-DFDE-9FB8BAB64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79EDEB2-8430-F756-8CD7-F0965E6D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663389-A6C0-A882-705C-6EAEDF967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852E1F4-791C-B0ED-C6DA-2F5FC2E5F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319B6DA-FBD9-8CF6-D283-415F4183F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91FAD5-DCA3-2C34-DD98-8FC9D3E47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C1D924B-3F7F-46E5-03B6-8795D0B4E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A6D0C9-8B34-3662-0688-FA2E1A82E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58" y="81572"/>
            <a:ext cx="3825283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Http message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E901E1-BA0B-B854-F949-05F3B140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82E172-D8BF-EB5A-B311-47E6FCC39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2E01121-CD30-4D0D-76EB-0EC2EE41F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6301" y="818913"/>
            <a:ext cx="8478341" cy="5027056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3C997E47-7149-30AD-900B-F7FFCA53B30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998029" y="6129896"/>
            <a:ext cx="4713007" cy="446557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HTTP messages - HTTP | MDN</a:t>
            </a:r>
            <a:endParaRPr lang="en-US" sz="24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1288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77A065-5451-00C8-9A22-398D1C9F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CC6E97D-D79C-174E-04C2-9EA94E1D8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DD3C418-7F63-7DCC-A126-7352278E9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0C38F6-92BE-E614-C6F8-B6271B38A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1F4136-D9F9-2F2D-0323-D9F4CDAC2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A1BB08-A674-BC21-EAB7-40BA1F0A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53AD88-BB7A-2FB7-253A-8D178B774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52175C-B279-A5D6-82D4-5CAE8212D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73A981A-779D-7771-5978-624F5A40C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60BEE-C96D-B330-02D7-E28048C46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58" y="81572"/>
            <a:ext cx="3825283" cy="60245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00" dirty="0"/>
              <a:t>Http status code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00C9ACF-8C4C-682F-A2AB-A8A79CAC1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5385B8-325F-B132-0F7D-82B3D1E1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1290E52-F3AB-3D26-2571-FD4BA7BA7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723" y="968687"/>
            <a:ext cx="7230133" cy="5656559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BA5D1651-D406-85D1-AA7E-5FA94689089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650449" y="1411170"/>
            <a:ext cx="4713007" cy="496286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200</a:t>
            </a:r>
            <a:r>
              <a:rPr lang="en-US" sz="2400" b="1" dirty="0">
                <a:sym typeface="Wingdings" panose="05000000000000000000" pitchFamily="2" charset="2"/>
              </a:rPr>
              <a:t> ok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201 created [POST,PUT]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400  Bad request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401  Unauthorized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404  Not found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ym typeface="Wingdings" panose="05000000000000000000" pitchFamily="2" charset="2"/>
              </a:rPr>
              <a:t>500  Interna server error</a:t>
            </a:r>
          </a:p>
          <a:p>
            <a:pPr algn="ctr">
              <a:lnSpc>
                <a:spcPct val="90000"/>
              </a:lnSpc>
            </a:pPr>
            <a:r>
              <a:rPr lang="en-US" sz="2400" b="1" dirty="0">
                <a:sym typeface="Wingdings" panose="05000000000000000000" pitchFamily="2" charset="2"/>
              </a:rPr>
              <a:t>[</a:t>
            </a:r>
            <a:r>
              <a:rPr lang="fr-FR" sz="2400" dirty="0">
                <a:hlinkClick r:id="rId4"/>
              </a:rPr>
              <a:t>HTTP </a:t>
            </a:r>
            <a:r>
              <a:rPr lang="fr-FR" sz="2400" dirty="0" err="1">
                <a:hlinkClick r:id="rId4"/>
              </a:rPr>
              <a:t>response</a:t>
            </a:r>
            <a:r>
              <a:rPr lang="fr-FR" sz="2400" dirty="0">
                <a:hlinkClick r:id="rId4"/>
              </a:rPr>
              <a:t> </a:t>
            </a:r>
            <a:r>
              <a:rPr lang="fr-FR" sz="2400" dirty="0" err="1">
                <a:hlinkClick r:id="rId4"/>
              </a:rPr>
              <a:t>status</a:t>
            </a:r>
            <a:r>
              <a:rPr lang="fr-FR" sz="2400" dirty="0">
                <a:hlinkClick r:id="rId4"/>
              </a:rPr>
              <a:t> codes - HTTP | MDN</a:t>
            </a:r>
            <a:r>
              <a:rPr lang="en-US" sz="2400" b="1" dirty="0">
                <a:sym typeface="Wingdings" panose="05000000000000000000" pitchFamily="2" charset="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5309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04672-F03F-26E2-CE3A-7C427D93D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0BF056-564A-95CB-605A-B1492DF25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B830DD-5EC5-3A2C-3A59-6C9349029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D3FD214-E22D-5A03-1017-6EBB4BEB6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2C1F11-B5CA-4C81-184E-00A7C593A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ECBD4D4-D598-8114-F99A-A97EFA654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CA70F1-F3FA-989C-50BA-FB45D4C50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AF4225C-2DB2-16C3-4A9A-2E2FCB26B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727E261-94B3-6C0A-FBDC-C10B29CF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5D6C1-2C85-C5C9-CA3C-C61305DA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994" y="-4765"/>
            <a:ext cx="5242970" cy="60245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100" dirty="0"/>
              <a:t>Http request methods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AB477E1-E0F6-2395-DF5B-BC42CC0F6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2115B85-EF7E-BDF2-C96F-F1C60247C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910AFC9-6838-D04F-CC57-3F589E75B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233" y="576009"/>
            <a:ext cx="6466896" cy="605111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8F63550-7E75-DD2E-F480-E5FB24A0D2D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154572" y="816091"/>
            <a:ext cx="4713007" cy="496286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HTTP request methods - HTTP | MDN</a:t>
            </a:r>
            <a:endParaRPr lang="en-US" sz="24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8572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94E38-9EC3-0B51-CA34-16DCD1D1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577AF4B-B79A-3E3D-0870-C64BC35D8336}"/>
              </a:ext>
            </a:extLst>
          </p:cNvPr>
          <p:cNvSpPr txBox="1">
            <a:spLocks/>
          </p:cNvSpPr>
          <p:nvPr/>
        </p:nvSpPr>
        <p:spPr>
          <a:xfrm>
            <a:off x="462686" y="892065"/>
            <a:ext cx="6239224" cy="5733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Advantages:</a:t>
            </a:r>
          </a:p>
          <a:p>
            <a:pPr fontAlgn="base"/>
            <a:r>
              <a:rPr lang="en-US" sz="1400" b="1"/>
              <a:t>1. </a:t>
            </a:r>
            <a:r>
              <a:rPr lang="en-US" b="1"/>
              <a:t>Scalability:</a:t>
            </a:r>
            <a:r>
              <a:rPr lang="en-US"/>
              <a:t> Individual layers in the architecture can be scaled independently to meet performance needs.</a:t>
            </a:r>
          </a:p>
          <a:p>
            <a:pPr fontAlgn="base"/>
            <a:r>
              <a:rPr lang="en-US" b="1"/>
              <a:t>2. Flexibility:</a:t>
            </a:r>
            <a:r>
              <a:rPr lang="en-US"/>
              <a:t> Different technologies can be used within each layer without affecting others.</a:t>
            </a:r>
          </a:p>
          <a:p>
            <a:pPr fontAlgn="base"/>
            <a:r>
              <a:rPr lang="en-US" b="1"/>
              <a:t>3. Maintainability: </a:t>
            </a:r>
            <a:r>
              <a:rPr lang="en-US"/>
              <a:t>Changes in one layer do not necessarily impact other layers, thus simplifying the maintenance.</a:t>
            </a:r>
          </a:p>
          <a:p>
            <a:pPr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Disadvantages: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Complexity: </a:t>
            </a:r>
            <a:r>
              <a:rPr lang="en-US"/>
              <a:t>Adding more layers to the architecture can make the system more complex and difficult to manage.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Performance Overhead: </a:t>
            </a:r>
            <a:r>
              <a:rPr lang="en-US"/>
              <a:t>Multiple layers can introduce latency due to additional communication between the layers.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Strict Layer Separation: </a:t>
            </a:r>
            <a:r>
              <a:rPr lang="en-US"/>
              <a:t>Strict layer separation can sometimes lead to inefficiencies and increased development effort.</a:t>
            </a:r>
          </a:p>
          <a:p>
            <a:pPr fontAlgn="base">
              <a:lnSpc>
                <a:spcPct val="90000"/>
              </a:lnSpc>
            </a:pPr>
            <a:endParaRPr lang="en-US" sz="1400" b="1"/>
          </a:p>
          <a:p>
            <a:pPr>
              <a:lnSpc>
                <a:spcPct val="90000"/>
              </a:lnSpc>
            </a:pPr>
            <a:endParaRPr lang="en-US" sz="14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4EB5F5-CE11-AD63-03F4-AA5700F9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CFEBA2-5A79-EFB3-A8BD-B29150989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0821C0-114C-BD63-4317-F5AD09C1E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F93FA5-3A5D-B918-6015-1D9161085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B1AE2E7-72E8-475C-789C-7A3AB006E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30E36A-193D-543C-AF58-7A697DB9F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3946059-7313-F4D9-98BA-0E432A539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B722D5E-D209-7123-0BE6-6A45E9FB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2CF30-34D9-2A60-FC44-A2B859A3B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19" y="232173"/>
            <a:ext cx="10021408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Types of Software Architecture Patterns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516B02A-A9CE-FA6D-7E8E-61193A9F7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1A3C2B-ED57-8533-4A07-EC2A9B3B2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47C6937-6550-E7F4-9614-D476E1425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787" y="1159385"/>
            <a:ext cx="5225077" cy="461395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07C9CA-E7C5-41A1-DF66-C3BD700B137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05259" y="892064"/>
            <a:ext cx="6355097" cy="580877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9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2. Microservices Architecture Pattern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collection of small services that are combined to form the actual application is the concept of microservices pattern. Instead of building a bigger application, small programs are built for every service (function) of an application independently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One common concept that applies to the general architecture pattern is the notion of </a:t>
            </a:r>
            <a:r>
              <a:rPr lang="en-US" b="1" dirty="0">
                <a:solidFill>
                  <a:srgbClr val="FF0000"/>
                </a:solidFill>
              </a:rPr>
              <a:t>separately deployed units</a:t>
            </a:r>
            <a:r>
              <a:rPr lang="en-US" dirty="0"/>
              <a:t>.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component of the microservices architecture is deployed as a separate unit, allowing for easier deployment through an effective and streamlined delivery pipeline, increased scalability, and a high degree of application and component decoupling within your application. 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Rather than think about services within a microservices architecture, it is better to think about service components, which can vary in granularity from a single module to a large portion of the application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Another key concept within the microservices architecture pattern is that it is a distributed architecture, meaning that all the components within the architecture are fully decoupled from one other and accessed through some sort of remote access protocol</a:t>
            </a:r>
          </a:p>
          <a:p>
            <a:pPr marL="114300">
              <a:lnSpc>
                <a:spcPct val="90000"/>
              </a:lnSpc>
            </a:pPr>
            <a:endParaRPr lang="en-US" dirty="0"/>
          </a:p>
          <a:p>
            <a:pPr marL="114300">
              <a:lnSpc>
                <a:spcPct val="90000"/>
              </a:lnSpc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4285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6FF5D6-0157-7A75-1EE6-62BD8AD0F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4B73459-6D43-42D5-51B5-1B7014EC976E}"/>
              </a:ext>
            </a:extLst>
          </p:cNvPr>
          <p:cNvSpPr txBox="1">
            <a:spLocks/>
          </p:cNvSpPr>
          <p:nvPr/>
        </p:nvSpPr>
        <p:spPr>
          <a:xfrm>
            <a:off x="462686" y="892065"/>
            <a:ext cx="6239224" cy="5733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Advantages:</a:t>
            </a:r>
          </a:p>
          <a:p>
            <a:pPr fontAlgn="base"/>
            <a:r>
              <a:rPr lang="en-US" sz="1400" b="1"/>
              <a:t>1. </a:t>
            </a:r>
            <a:r>
              <a:rPr lang="en-US" b="1"/>
              <a:t>Scalability:</a:t>
            </a:r>
            <a:r>
              <a:rPr lang="en-US"/>
              <a:t> Individual layers in the architecture can be scaled independently to meet performance needs.</a:t>
            </a:r>
          </a:p>
          <a:p>
            <a:pPr fontAlgn="base"/>
            <a:r>
              <a:rPr lang="en-US" b="1"/>
              <a:t>2. Flexibility:</a:t>
            </a:r>
            <a:r>
              <a:rPr lang="en-US"/>
              <a:t> Different technologies can be used within each layer without affecting others.</a:t>
            </a:r>
          </a:p>
          <a:p>
            <a:pPr fontAlgn="base"/>
            <a:r>
              <a:rPr lang="en-US" b="1"/>
              <a:t>3. Maintainability: </a:t>
            </a:r>
            <a:r>
              <a:rPr lang="en-US"/>
              <a:t>Changes in one layer do not necessarily impact other layers, thus simplifying the maintenance.</a:t>
            </a:r>
          </a:p>
          <a:p>
            <a:pPr indent="-228600" fontAlgn="base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b="1"/>
              <a:t>Disadvantages: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Complexity: </a:t>
            </a:r>
            <a:r>
              <a:rPr lang="en-US"/>
              <a:t>Adding more layers to the architecture can make the system more complex and difficult to manage.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Performance Overhead: </a:t>
            </a:r>
            <a:r>
              <a:rPr lang="en-US"/>
              <a:t>Multiple layers can introduce latency due to additional communication between the layers.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b="1"/>
              <a:t>Strict Layer Separation: </a:t>
            </a:r>
            <a:r>
              <a:rPr lang="en-US"/>
              <a:t>Strict layer separation can sometimes lead to inefficiencies and increased development effort.</a:t>
            </a:r>
          </a:p>
          <a:p>
            <a:pPr fontAlgn="base">
              <a:lnSpc>
                <a:spcPct val="90000"/>
              </a:lnSpc>
            </a:pPr>
            <a:endParaRPr lang="en-US" sz="1400" b="1"/>
          </a:p>
          <a:p>
            <a:pPr>
              <a:lnSpc>
                <a:spcPct val="90000"/>
              </a:lnSpc>
            </a:pPr>
            <a:endParaRPr lang="en-US" sz="1400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00FF04-78BA-D2FD-89B4-9976E82637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AE0B3D7-AA7A-573D-E700-18540B4E4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D2DEC2-CA92-059D-6559-0C65B9560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B327BDB-6394-7798-8C52-42C928A55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784812-FA89-3792-ED9B-5DFB5F849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1353B2-6AE4-2671-71EA-328A40291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79EC1BF-3A54-3AA4-0590-D3EA8BFB8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E5B77F6-E0AC-B82F-2051-8F09ED494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F64521-535A-F390-1AA5-8D333E13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19" y="232173"/>
            <a:ext cx="10021408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Types of Software Architecture Patterns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D8CB5B-70AA-506B-77A8-780C73A8F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30398" y="-1"/>
            <a:ext cx="2559923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7DC5A7-7892-CC5D-39EF-5C8BE56F8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741182" y="0"/>
            <a:ext cx="725518" cy="685799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0CD8747-D399-2547-1AF3-2DF0B94778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1787" y="1860824"/>
            <a:ext cx="5225077" cy="321107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3498FE-97C4-4F0B-2081-D8E9827254C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05259" y="892064"/>
            <a:ext cx="6355097" cy="5808772"/>
          </a:xfr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9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API REST-based: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API REST-based topology is useful for websites that expose small, self-contained individual services through some sort of API (application programming interface).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This topology consists of very fine-grained service components (hence the name microservices) that contain one or two modules that perform specific business functions independent from the rest of the services.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These fine-grained service components are typically accessed using a REST-based interface implemented through a separately deployed web-based API layer.</a:t>
            </a:r>
          </a:p>
          <a:p>
            <a:pPr marL="114300">
              <a:lnSpc>
                <a:spcPct val="90000"/>
              </a:lnSpc>
            </a:pPr>
            <a:r>
              <a:rPr lang="en-US" sz="1400" b="1" dirty="0">
                <a:solidFill>
                  <a:srgbClr val="FF0000"/>
                </a:solidFill>
              </a:rPr>
              <a:t>Application REST-based: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application REST-based topology differs from the API REST based approach in that client requests are received through traditional web-based or fat-client business application screens rather than through a simple API layer</a:t>
            </a:r>
          </a:p>
          <a:p>
            <a:pPr marL="4000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user-interface layer of the application is deployed as a separate web application that remotely accesses separately deployed service com ponents (business functionality) through simple REST-based interfaces. </a:t>
            </a:r>
            <a:endParaRPr lang="en-US" sz="1400" b="1" dirty="0">
              <a:solidFill>
                <a:srgbClr val="FF0000"/>
              </a:solidFill>
            </a:endParaRPr>
          </a:p>
          <a:p>
            <a:pPr marL="114300">
              <a:lnSpc>
                <a:spcPct val="90000"/>
              </a:lnSpc>
            </a:pPr>
            <a:endParaRPr lang="en-US" sz="1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727857-0543-49A7-3CA1-0207EBB6F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3218" y="1903760"/>
            <a:ext cx="5225077" cy="312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0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Flask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210519" y="1110343"/>
            <a:ext cx="9321410" cy="5267308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Flask is a </a:t>
            </a:r>
            <a:r>
              <a:rPr lang="en-US" b="1" dirty="0"/>
              <a:t>lightweight web application framework for Python.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Flask is a WSGI (Web Server Gateway Interface) web application framework written in Python. </a:t>
            </a: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Flask is designed to be simple, flexible, and minimal, giving developers the essentials for building web applications without enforcing a rigid structure. </a:t>
            </a:r>
          </a:p>
          <a:p>
            <a:pPr marL="114300">
              <a:lnSpc>
                <a:spcPct val="90000"/>
              </a:lnSpc>
            </a:pPr>
            <a:r>
              <a:rPr lang="en-US" sz="1600" b="1" dirty="0">
                <a:solidFill>
                  <a:srgbClr val="FF0000"/>
                </a:solidFill>
              </a:rPr>
              <a:t>Key characteristics: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Microframework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 Provides only the core features (routing, request handling, templating). Developers add extensions for things like databases, authentication, or form handling.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Flexibility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 You decide how to structure your app; Flask doesn’t impose strict conventions.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Scalability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 While minimal, it can scale up to complex applications with the right extensions.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Ease of Use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: Quick to get started, making it popular for prototypes, small apps, and learning web development.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9BE0136-F3EA-1ECB-BC26-147F5847C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994" y="306729"/>
            <a:ext cx="1990011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flask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7E67F-68CB-6126-75CB-3BB358A1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E7A2B1-6BAD-BEA4-214F-D2CE6D867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b"/>
          <a:lstStyle/>
          <a:p>
            <a:r>
              <a:rPr lang="en-US" sz="3600" dirty="0"/>
              <a:t>Environment setup</a:t>
            </a:r>
            <a:br>
              <a:rPr lang="en-US" dirty="0"/>
            </a:br>
            <a:r>
              <a:rPr lang="en-US" dirty="0"/>
              <a:t>&amp;</a:t>
            </a:r>
            <a:br>
              <a:rPr lang="en-US" dirty="0"/>
            </a:br>
            <a:r>
              <a:rPr lang="en-US" sz="3600" dirty="0"/>
              <a:t>Small program (‘hello world’)</a:t>
            </a:r>
            <a:endParaRPr lang="en-US" dirty="0"/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CC15CA8C-9FA2-9A25-D35E-9661F5B3D41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2259031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EC7EB-3E22-E435-72DB-5A41AD66F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D9654-7B22-E140-F722-1F77BC306B68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210519" y="1110343"/>
            <a:ext cx="9321410" cy="602457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Sz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Downloading package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For project only: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CBCC7D9-F243-28ED-EBB6-452D55AF5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994" y="306729"/>
            <a:ext cx="1990011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flask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2344DF-F3BB-25BA-A977-21F05D532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71"/>
          <a:stretch>
            <a:fillRect/>
          </a:stretch>
        </p:blipFill>
        <p:spPr>
          <a:xfrm>
            <a:off x="1414273" y="2023686"/>
            <a:ext cx="8873816" cy="452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45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93ACE-C01F-3B9C-AF41-4C7EF26F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79843-2AD3-EC93-2F1B-1242E678251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210519" y="1110343"/>
            <a:ext cx="9321410" cy="602457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SzTx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Downloading package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Globally 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7186B5E-69DB-B014-5582-FF94479B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994" y="306729"/>
            <a:ext cx="1990011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flask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CAED23-A8C7-8E3C-3B41-B88B6C2D3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850"/>
          <a:stretch>
            <a:fillRect/>
          </a:stretch>
        </p:blipFill>
        <p:spPr>
          <a:xfrm>
            <a:off x="1210520" y="2633286"/>
            <a:ext cx="9062598" cy="269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13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5E2E3-9380-7C0A-47F3-7DEA54F1E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031FE-8CE1-8372-9EFD-D8342BA67A7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3984" y="731521"/>
            <a:ext cx="9897945" cy="2157984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2. Creating project 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Create folder in any place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Open VS code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Open folder you've created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Create file in it ‘</a:t>
            </a: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app.py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’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Write the following :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3D4F59B-4CF3-513D-FBF9-2D86B6F0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994" y="306729"/>
            <a:ext cx="1990011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flask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BF3F8-FF5A-CB70-4E11-9153A96C8A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4803" r="32918" b="-1"/>
          <a:stretch>
            <a:fillRect/>
          </a:stretch>
        </p:blipFill>
        <p:spPr>
          <a:xfrm>
            <a:off x="1460745" y="2889504"/>
            <a:ext cx="7549143" cy="390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13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EC8BA-8E7D-C0DD-F944-98F334DCA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5D483-D48E-4168-9EA6-B36B1773896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33984" y="731522"/>
            <a:ext cx="9897945" cy="1085086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3. Run it :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 terminal:</a:t>
            </a:r>
          </a:p>
          <a:p>
            <a:pPr marL="2834640"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flask run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0537FC8-449B-EC9A-E058-593926EB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994" y="306729"/>
            <a:ext cx="1990011" cy="6024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dirty="0"/>
              <a:t>flask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6E8262-DAFD-5316-0494-91CD703D5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356"/>
          <a:stretch>
            <a:fillRect/>
          </a:stretch>
        </p:blipFill>
        <p:spPr>
          <a:xfrm>
            <a:off x="715001" y="1916309"/>
            <a:ext cx="9478070" cy="13472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5C51902-DE41-CA8D-40B9-7B982722FC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1" y="3834697"/>
            <a:ext cx="9735909" cy="2934109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5672C5D-432D-66C7-A674-BBF966BAD243}"/>
              </a:ext>
            </a:extLst>
          </p:cNvPr>
          <p:cNvSpPr txBox="1">
            <a:spLocks/>
          </p:cNvSpPr>
          <p:nvPr/>
        </p:nvSpPr>
        <p:spPr>
          <a:xfrm>
            <a:off x="670971" y="3263525"/>
            <a:ext cx="9897945" cy="59131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SzPct val="8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Python app.py </a:t>
            </a:r>
          </a:p>
        </p:txBody>
      </p:sp>
    </p:spTree>
    <p:extLst>
      <p:ext uri="{BB962C8B-B14F-4D97-AF65-F5344CB8AC3E}">
        <p14:creationId xmlns:p14="http://schemas.microsoft.com/office/powerpoint/2010/main" val="2096840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2337F-A6D1-3BA4-F2F0-BC709D22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2B78D151-52A1-46B3-8374-570DA802E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516E718-89D2-96E9-BDAD-CEF374988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5207" y="297064"/>
            <a:ext cx="2558633" cy="60805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400" dirty="0"/>
              <a:t>flask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76856-515D-BFDB-8693-64C3D478737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02091" y="1369218"/>
            <a:ext cx="5198066" cy="4119562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FF0000"/>
                </a:solidFill>
              </a:rPr>
              <a:t>Note:</a:t>
            </a:r>
          </a:p>
          <a:p>
            <a:pPr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To activate debugging mode with </a:t>
            </a:r>
            <a:r>
              <a:rPr lang="en-US" altLang="en-US" dirty="0">
                <a:solidFill>
                  <a:srgbClr val="FF0000"/>
                </a:solidFill>
              </a:rPr>
              <a:t>[flask run] </a:t>
            </a:r>
            <a:r>
              <a:rPr lang="en-US" altLang="en-US" dirty="0"/>
              <a:t>command </a:t>
            </a:r>
            <a:r>
              <a:rPr lang="en-US" altLang="en-US" dirty="0">
                <a:solidFill>
                  <a:srgbClr val="FF0000"/>
                </a:solidFill>
              </a:rPr>
              <a:t>[it’s already working with python app.py command]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  <a:endParaRPr lang="en-US" altLang="en-US" dirty="0">
              <a:solidFill>
                <a:srgbClr val="FF0000"/>
              </a:solidFill>
            </a:endParaRPr>
          </a:p>
          <a:p>
            <a:pPr marL="342900"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Create a file and name it </a:t>
            </a:r>
            <a:r>
              <a:rPr lang="en-US" altLang="en-US" dirty="0">
                <a:sym typeface="Wingdings" panose="05000000000000000000" pitchFamily="2" charset="2"/>
              </a:rPr>
              <a:t> </a:t>
            </a:r>
            <a:r>
              <a:rPr lang="en-US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r>
              <a:rPr lang="en-US" alt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flaskenv</a:t>
            </a:r>
            <a:r>
              <a:rPr lang="en-US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</a:p>
          <a:p>
            <a:pPr marL="342900" lvl="0" indent="-228600" fontAlgn="base"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ym typeface="Wingdings" panose="05000000000000000000" pitchFamily="2" charset="2"/>
              </a:rPr>
              <a:t>Add these lines to it :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FF0000"/>
                </a:solidFill>
              </a:rPr>
              <a:t>FLASK_APP=app.py (your file name)</a:t>
            </a:r>
          </a:p>
          <a:p>
            <a:pPr lvl="0" fontAlgn="base">
              <a:spcBef>
                <a:spcPct val="0"/>
              </a:spcBef>
              <a:spcAft>
                <a:spcPts val="600"/>
              </a:spcAft>
            </a:pPr>
            <a:r>
              <a:rPr lang="en-US" altLang="en-US" dirty="0">
                <a:solidFill>
                  <a:srgbClr val="FF0000"/>
                </a:solidFill>
              </a:rPr>
              <a:t>FLASK_DEBUG=1</a:t>
            </a:r>
          </a:p>
        </p:txBody>
      </p:sp>
      <p:sp>
        <p:nvSpPr>
          <p:cNvPr id="63" name="Rectangle 23">
            <a:extLst>
              <a:ext uri="{FF2B5EF4-FFF2-40B4-BE49-F238E27FC236}">
                <a16:creationId xmlns:a16="http://schemas.microsoft.com/office/drawing/2014/main" id="{6C745475-F6E1-4944-B2F1-A82F3444F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7323273" y="-18942"/>
            <a:ext cx="4868727" cy="6895884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121508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215089 w 6125882"/>
              <a:gd name="connsiteY4" fmla="*/ 0 h 6857998"/>
              <a:gd name="connsiteX0" fmla="*/ 1222204 w 6132997"/>
              <a:gd name="connsiteY0" fmla="*/ 0 h 6881904"/>
              <a:gd name="connsiteX1" fmla="*/ 6132997 w 6132997"/>
              <a:gd name="connsiteY1" fmla="*/ 0 h 6881904"/>
              <a:gd name="connsiteX2" fmla="*/ 6132997 w 6132997"/>
              <a:gd name="connsiteY2" fmla="*/ 6857998 h 6881904"/>
              <a:gd name="connsiteX3" fmla="*/ 0 w 6132997"/>
              <a:gd name="connsiteY3" fmla="*/ 6881904 h 6881904"/>
              <a:gd name="connsiteX4" fmla="*/ 1222204 w 6132997"/>
              <a:gd name="connsiteY4" fmla="*/ 0 h 6881904"/>
              <a:gd name="connsiteX0" fmla="*/ 1348644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348644 w 6132997"/>
              <a:gd name="connsiteY4" fmla="*/ 0 h 6893857"/>
              <a:gd name="connsiteX0" fmla="*/ 1457021 w 6132997"/>
              <a:gd name="connsiteY0" fmla="*/ 0 h 6893857"/>
              <a:gd name="connsiteX1" fmla="*/ 6132997 w 6132997"/>
              <a:gd name="connsiteY1" fmla="*/ 11953 h 6893857"/>
              <a:gd name="connsiteX2" fmla="*/ 6132997 w 6132997"/>
              <a:gd name="connsiteY2" fmla="*/ 6869951 h 6893857"/>
              <a:gd name="connsiteX3" fmla="*/ 0 w 6132997"/>
              <a:gd name="connsiteY3" fmla="*/ 6893857 h 6893857"/>
              <a:gd name="connsiteX4" fmla="*/ 1457021 w 6132997"/>
              <a:gd name="connsiteY4" fmla="*/ 0 h 6893857"/>
              <a:gd name="connsiteX0" fmla="*/ 1754909 w 6430885"/>
              <a:gd name="connsiteY0" fmla="*/ 0 h 6869951"/>
              <a:gd name="connsiteX1" fmla="*/ 6430885 w 6430885"/>
              <a:gd name="connsiteY1" fmla="*/ 11953 h 6869951"/>
              <a:gd name="connsiteX2" fmla="*/ 6430885 w 6430885"/>
              <a:gd name="connsiteY2" fmla="*/ 6869951 h 6869951"/>
              <a:gd name="connsiteX3" fmla="*/ 0 w 6430885"/>
              <a:gd name="connsiteY3" fmla="*/ 6869951 h 6869951"/>
              <a:gd name="connsiteX4" fmla="*/ 1754909 w 6430885"/>
              <a:gd name="connsiteY4" fmla="*/ 0 h 6869951"/>
              <a:gd name="connsiteX0" fmla="*/ 2023235 w 6699211"/>
              <a:gd name="connsiteY0" fmla="*/ 0 h 6869951"/>
              <a:gd name="connsiteX1" fmla="*/ 6699211 w 6699211"/>
              <a:gd name="connsiteY1" fmla="*/ 11953 h 6869951"/>
              <a:gd name="connsiteX2" fmla="*/ 6699211 w 6699211"/>
              <a:gd name="connsiteY2" fmla="*/ 6869951 h 6869951"/>
              <a:gd name="connsiteX3" fmla="*/ 0 w 6699211"/>
              <a:gd name="connsiteY3" fmla="*/ 6856303 h 6869951"/>
              <a:gd name="connsiteX4" fmla="*/ 2023235 w 6699211"/>
              <a:gd name="connsiteY4" fmla="*/ 0 h 6869951"/>
              <a:gd name="connsiteX0" fmla="*/ 2702995 w 6699211"/>
              <a:gd name="connsiteY0" fmla="*/ 42638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702995 w 6699211"/>
              <a:gd name="connsiteY4" fmla="*/ 42638 h 6857998"/>
              <a:gd name="connsiteX0" fmla="*/ 2323794 w 6699211"/>
              <a:gd name="connsiteY0" fmla="*/ 54619 h 6857998"/>
              <a:gd name="connsiteX1" fmla="*/ 6699211 w 6699211"/>
              <a:gd name="connsiteY1" fmla="*/ 0 h 6857998"/>
              <a:gd name="connsiteX2" fmla="*/ 6699211 w 6699211"/>
              <a:gd name="connsiteY2" fmla="*/ 6857998 h 6857998"/>
              <a:gd name="connsiteX3" fmla="*/ 0 w 6699211"/>
              <a:gd name="connsiteY3" fmla="*/ 6844350 h 6857998"/>
              <a:gd name="connsiteX4" fmla="*/ 2323794 w 6699211"/>
              <a:gd name="connsiteY4" fmla="*/ 54619 h 6857998"/>
              <a:gd name="connsiteX0" fmla="*/ 2323794 w 6699211"/>
              <a:gd name="connsiteY0" fmla="*/ 18674 h 6822053"/>
              <a:gd name="connsiteX1" fmla="*/ 6699211 w 6699211"/>
              <a:gd name="connsiteY1" fmla="*/ 0 h 6822053"/>
              <a:gd name="connsiteX2" fmla="*/ 6699211 w 6699211"/>
              <a:gd name="connsiteY2" fmla="*/ 6822053 h 6822053"/>
              <a:gd name="connsiteX3" fmla="*/ 0 w 6699211"/>
              <a:gd name="connsiteY3" fmla="*/ 6808405 h 6822053"/>
              <a:gd name="connsiteX4" fmla="*/ 2323794 w 6699211"/>
              <a:gd name="connsiteY4" fmla="*/ 18674 h 6822053"/>
              <a:gd name="connsiteX0" fmla="*/ 3105369 w 7480786"/>
              <a:gd name="connsiteY0" fmla="*/ 18674 h 6822053"/>
              <a:gd name="connsiteX1" fmla="*/ 7480786 w 7480786"/>
              <a:gd name="connsiteY1" fmla="*/ 0 h 6822053"/>
              <a:gd name="connsiteX2" fmla="*/ 7480786 w 7480786"/>
              <a:gd name="connsiteY2" fmla="*/ 6822053 h 6822053"/>
              <a:gd name="connsiteX3" fmla="*/ 0 w 7480786"/>
              <a:gd name="connsiteY3" fmla="*/ 6820387 h 6822053"/>
              <a:gd name="connsiteX4" fmla="*/ 3105369 w 7480786"/>
              <a:gd name="connsiteY4" fmla="*/ 18674 h 6822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80786" h="6822053">
                <a:moveTo>
                  <a:pt x="3105369" y="18674"/>
                </a:moveTo>
                <a:lnTo>
                  <a:pt x="7480786" y="0"/>
                </a:lnTo>
                <a:lnTo>
                  <a:pt x="7480786" y="6822053"/>
                </a:lnTo>
                <a:lnTo>
                  <a:pt x="0" y="6820387"/>
                </a:lnTo>
                <a:lnTo>
                  <a:pt x="3105369" y="18674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E2F61726-9292-4844-9EBF-341051AAF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40256" y="0"/>
            <a:ext cx="4651744" cy="26130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84416F5-2683-7722-E9C4-BD4DEB97F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535" y="1252275"/>
            <a:ext cx="5198065" cy="20813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9C9484-1EAA-BF97-9215-173C13D1F9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526" y="3692550"/>
            <a:ext cx="5327074" cy="2136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74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E62E91-3991-445A-ADE0-DB143B3932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20BE78-9FDF-401B-B412-3AA10EC5BEA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C180A77-4928-484F-9529-F716C85D6A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 lines design</Template>
  <TotalTime>376</TotalTime>
  <Words>1723</Words>
  <Application>Microsoft Office PowerPoint</Application>
  <PresentationFormat>Widescreen</PresentationFormat>
  <Paragraphs>171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Nunito</vt:lpstr>
      <vt:lpstr>Univers Condensed Light</vt:lpstr>
      <vt:lpstr>Walbaum Display Light</vt:lpstr>
      <vt:lpstr>Wingdings</vt:lpstr>
      <vt:lpstr>AngleLinesVTI</vt:lpstr>
      <vt:lpstr>Software Architecture And Design</vt:lpstr>
      <vt:lpstr>AGENDA</vt:lpstr>
      <vt:lpstr>Software architecture</vt:lpstr>
      <vt:lpstr>What is a software architecture?</vt:lpstr>
      <vt:lpstr>Software Architecture Pattern vs Design Pattern</vt:lpstr>
      <vt:lpstr>Types of Software Architecture Patterns</vt:lpstr>
      <vt:lpstr>Http message</vt:lpstr>
      <vt:lpstr>Http status code</vt:lpstr>
      <vt:lpstr>Http request methods</vt:lpstr>
      <vt:lpstr>Types of Software Architecture Patterns</vt:lpstr>
      <vt:lpstr>Types of Software Architecture Patterns</vt:lpstr>
      <vt:lpstr>Flask</vt:lpstr>
      <vt:lpstr>flask</vt:lpstr>
      <vt:lpstr>Environment setup &amp; Small program (‘hello world’)</vt:lpstr>
      <vt:lpstr>flask</vt:lpstr>
      <vt:lpstr>flask</vt:lpstr>
      <vt:lpstr>flask</vt:lpstr>
      <vt:lpstr>flask</vt:lpstr>
      <vt:lpstr>flask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Mariam Malak</dc:creator>
  <cp:lastModifiedBy>Mariam Malak</cp:lastModifiedBy>
  <cp:revision>3</cp:revision>
  <dcterms:created xsi:type="dcterms:W3CDTF">2026-02-13T17:42:51Z</dcterms:created>
  <dcterms:modified xsi:type="dcterms:W3CDTF">2026-02-18T14:29:46Z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
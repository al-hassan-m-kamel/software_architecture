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5"/>
  </p:notesMasterIdLst>
  <p:handoutMasterIdLst>
    <p:handoutMasterId r:id="rId16"/>
  </p:handoutMasterIdLst>
  <p:sldIdLst>
    <p:sldId id="290" r:id="rId5"/>
    <p:sldId id="291" r:id="rId6"/>
    <p:sldId id="294" r:id="rId7"/>
    <p:sldId id="309" r:id="rId8"/>
    <p:sldId id="310" r:id="rId9"/>
    <p:sldId id="311" r:id="rId10"/>
    <p:sldId id="312" r:id="rId11"/>
    <p:sldId id="314" r:id="rId12"/>
    <p:sldId id="313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80865" autoAdjust="0"/>
  </p:normalViewPr>
  <p:slideViewPr>
    <p:cSldViewPr snapToGrid="0">
      <p:cViewPr varScale="1">
        <p:scale>
          <a:sx n="63" d="100"/>
          <a:sy n="63" d="100"/>
        </p:scale>
        <p:origin x="136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7EB5-CBCA-3D7B-2C80-3D6F58C0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6FDCE-1FA3-5745-DFAA-B2998F5A8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80A4A-9C39-91A0-78F2-4119C3F28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0FA59-8D9A-B748-DE94-3F4B81AD2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55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&lt;!doctype html&gt;</a:t>
            </a:r>
          </a:p>
          <a:p>
            <a:pPr marL="0" indent="0">
              <a:buNone/>
            </a:pPr>
            <a:r>
              <a:rPr lang="en-US" sz="1200" dirty="0"/>
              <a:t>&lt;html lang="</a:t>
            </a:r>
            <a:r>
              <a:rPr lang="en-US" sz="1200" dirty="0" err="1"/>
              <a:t>en</a:t>
            </a:r>
            <a:r>
              <a:rPr lang="en-US" sz="1200" dirty="0"/>
              <a:t>"&gt;</a:t>
            </a:r>
          </a:p>
          <a:p>
            <a:pPr marL="0" indent="0">
              <a:buNone/>
            </a:pPr>
            <a:r>
              <a:rPr lang="en-US" sz="1200" dirty="0"/>
              <a:t>  &lt;head&gt;</a:t>
            </a:r>
          </a:p>
          <a:p>
            <a:pPr marL="0" indent="0">
              <a:buNone/>
            </a:pPr>
            <a:r>
              <a:rPr lang="en-US" sz="1200" dirty="0"/>
              <a:t>    &lt;!-- Required meta tags --&gt;</a:t>
            </a:r>
          </a:p>
          <a:p>
            <a:pPr marL="0" indent="0">
              <a:buNone/>
            </a:pPr>
            <a:r>
              <a:rPr lang="en-US" sz="1200" dirty="0"/>
              <a:t>    &lt;meta charset="utf-8"&gt;</a:t>
            </a:r>
          </a:p>
          <a:p>
            <a:pPr marL="0" indent="0">
              <a:buNone/>
            </a:pPr>
            <a:r>
              <a:rPr lang="en-US" sz="1200" dirty="0"/>
              <a:t>   &lt;meta name="viewport" content="width=device-width, initial-scale=1, shrink-to-fit=no"&gt;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&lt;!-- Bootstrap CSS --&gt;</a:t>
            </a:r>
          </a:p>
          <a:p>
            <a:pPr marL="0" indent="0">
              <a:buNone/>
            </a:pPr>
            <a:r>
              <a:rPr lang="en-US" sz="1200" dirty="0"/>
              <a:t>    &lt;link </a:t>
            </a:r>
            <a:r>
              <a:rPr lang="en-US" sz="1200" dirty="0" err="1"/>
              <a:t>rel</a:t>
            </a:r>
            <a:r>
              <a:rPr lang="en-US" sz="1200" dirty="0"/>
              <a:t>="stylesheet" </a:t>
            </a:r>
            <a:r>
              <a:rPr lang="en-US" sz="1200" dirty="0" err="1"/>
              <a:t>href</a:t>
            </a:r>
            <a:r>
              <a:rPr lang="en-US" sz="1200" dirty="0"/>
              <a:t>="https://cdn.jsdelivr.net/</a:t>
            </a:r>
            <a:r>
              <a:rPr lang="en-US" sz="1200" dirty="0" err="1"/>
              <a:t>npm</a:t>
            </a:r>
            <a:r>
              <a:rPr lang="en-US" sz="1200" dirty="0"/>
              <a:t>/bootstrap@4.3.1/</a:t>
            </a:r>
            <a:r>
              <a:rPr lang="en-US" sz="1200" dirty="0" err="1"/>
              <a:t>dist</a:t>
            </a:r>
            <a:r>
              <a:rPr lang="en-US" sz="1200" dirty="0"/>
              <a:t>/</a:t>
            </a:r>
            <a:r>
              <a:rPr lang="en-US" sz="1200" dirty="0" err="1"/>
              <a:t>css</a:t>
            </a:r>
            <a:r>
              <a:rPr lang="en-US" sz="1200" dirty="0"/>
              <a:t>/bootstrap.min.css" integrity="sha384-ggOyR0iXCbMQv3Xipma34MD+dH/1fQ784/j6cY/iJTQUOhcWr7x9JvoRxT2MZw1T" </a:t>
            </a:r>
            <a:r>
              <a:rPr lang="en-US" sz="1200" dirty="0" err="1"/>
              <a:t>crossorigin</a:t>
            </a:r>
            <a:r>
              <a:rPr lang="en-US" sz="1200" dirty="0"/>
              <a:t>="anonymous"&gt;</a:t>
            </a:r>
          </a:p>
          <a:p>
            <a:pPr marL="0" indent="0">
              <a:buNone/>
            </a:pPr>
            <a:r>
              <a:rPr lang="en-US" sz="1200" dirty="0"/>
              <a:t>    &lt;link </a:t>
            </a:r>
            <a:r>
              <a:rPr lang="en-US" sz="1200" dirty="0" err="1"/>
              <a:t>rel</a:t>
            </a:r>
            <a:r>
              <a:rPr lang="en-US" sz="1200" dirty="0"/>
              <a:t>="stylesheet" </a:t>
            </a:r>
            <a:r>
              <a:rPr lang="en-US" sz="1200" dirty="0" err="1"/>
              <a:t>href</a:t>
            </a:r>
            <a:r>
              <a:rPr lang="en-US" sz="1200" dirty="0"/>
              <a:t>="{{ </a:t>
            </a:r>
            <a:r>
              <a:rPr lang="en-US" sz="1200" dirty="0" err="1"/>
              <a:t>url_for</a:t>
            </a:r>
            <a:r>
              <a:rPr lang="en-US" sz="1200" dirty="0"/>
              <a:t>('static', filename='nav.css') }}"&gt;</a:t>
            </a:r>
          </a:p>
          <a:p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&lt;title&gt;Hello, world!&lt;/title&gt;</a:t>
            </a:r>
          </a:p>
          <a:p>
            <a:pPr marL="0" indent="0">
              <a:buNone/>
            </a:pPr>
            <a:r>
              <a:rPr lang="en-US" sz="1200" dirty="0"/>
              <a:t>  &lt;/head&gt;</a:t>
            </a:r>
          </a:p>
          <a:p>
            <a:r>
              <a:rPr lang="en-US" sz="1200" dirty="0"/>
              <a:t>&lt;body&gt;</a:t>
            </a:r>
          </a:p>
          <a:p>
            <a:r>
              <a:rPr lang="en-US" sz="1200" dirty="0"/>
              <a:t>    &lt;ul&gt;</a:t>
            </a:r>
          </a:p>
          <a:p>
            <a:r>
              <a:rPr lang="en-US" sz="1200" dirty="0"/>
              <a:t>  &lt;li&gt;&lt;a </a:t>
            </a:r>
            <a:r>
              <a:rPr lang="en-US" sz="1200" dirty="0" err="1"/>
              <a:t>href</a:t>
            </a:r>
            <a:r>
              <a:rPr lang="en-US" sz="1200" dirty="0"/>
              <a:t>="default.asp"&gt;Home&lt;/a&gt;&lt;/li&gt;</a:t>
            </a:r>
          </a:p>
          <a:p>
            <a:r>
              <a:rPr lang="en-US" sz="1200" dirty="0"/>
              <a:t>  &lt;li&gt;&lt;a </a:t>
            </a:r>
            <a:r>
              <a:rPr lang="en-US" sz="1200" dirty="0" err="1"/>
              <a:t>href</a:t>
            </a:r>
            <a:r>
              <a:rPr lang="en-US" sz="1200" dirty="0"/>
              <a:t>="/register"&gt;Register&lt;/a&gt;&lt;/li&gt;</a:t>
            </a:r>
          </a:p>
          <a:p>
            <a:r>
              <a:rPr lang="en-US" sz="1200" dirty="0"/>
              <a:t>  &lt;li&gt;&lt;a </a:t>
            </a:r>
            <a:r>
              <a:rPr lang="en-US" sz="1200" dirty="0" err="1"/>
              <a:t>href</a:t>
            </a:r>
            <a:r>
              <a:rPr lang="en-US" sz="1200" dirty="0"/>
              <a:t>="/contact"&gt;Contact&lt;/a&gt;&lt;/li&gt;</a:t>
            </a:r>
          </a:p>
          <a:p>
            <a:r>
              <a:rPr lang="en-US" sz="1200" dirty="0"/>
              <a:t>  &lt;li&gt;&lt;a </a:t>
            </a:r>
            <a:r>
              <a:rPr lang="en-US" sz="1200" dirty="0" err="1"/>
              <a:t>href</a:t>
            </a:r>
            <a:r>
              <a:rPr lang="en-US" sz="1200" dirty="0"/>
              <a:t>="/about"&gt;About&lt;/a&gt;&lt;/li&gt;</a:t>
            </a:r>
          </a:p>
          <a:p>
            <a:r>
              <a:rPr lang="en-US" sz="1200" dirty="0"/>
              <a:t>&lt;/ul&gt;</a:t>
            </a:r>
          </a:p>
          <a:p>
            <a:r>
              <a:rPr lang="en-US" sz="1200" dirty="0"/>
              <a:t>{%with messages = </a:t>
            </a:r>
            <a:r>
              <a:rPr lang="en-US" sz="1200" dirty="0" err="1"/>
              <a:t>get_flashed_messages</a:t>
            </a:r>
            <a:r>
              <a:rPr lang="en-US" sz="1200" dirty="0"/>
              <a:t>(</a:t>
            </a:r>
            <a:r>
              <a:rPr lang="en-US" sz="1200" dirty="0" err="1"/>
              <a:t>with_categories</a:t>
            </a:r>
            <a:r>
              <a:rPr lang="en-US" sz="1200" dirty="0"/>
              <a:t>=true) %}</a:t>
            </a:r>
          </a:p>
          <a:p>
            <a:r>
              <a:rPr lang="en-US" sz="1200" dirty="0"/>
              <a:t>    {%for </a:t>
            </a:r>
            <a:r>
              <a:rPr lang="en-US" sz="1200" dirty="0" err="1"/>
              <a:t>category,message</a:t>
            </a:r>
            <a:r>
              <a:rPr lang="en-US" sz="1200" dirty="0"/>
              <a:t> in messages%}</a:t>
            </a:r>
          </a:p>
          <a:p>
            <a:r>
              <a:rPr lang="en-US" sz="1200" dirty="0"/>
              <a:t>        &lt;div class="alert alert-{{category}}" role="alert"&gt;</a:t>
            </a:r>
          </a:p>
          <a:p>
            <a:r>
              <a:rPr lang="en-US" sz="1200" dirty="0"/>
              <a:t>            {{message}}</a:t>
            </a:r>
          </a:p>
          <a:p>
            <a:r>
              <a:rPr lang="en-US" sz="1200" dirty="0"/>
              <a:t>        &lt;/div&gt;</a:t>
            </a:r>
          </a:p>
          <a:p>
            <a:r>
              <a:rPr lang="en-US" sz="1200" dirty="0"/>
              <a:t>    {%</a:t>
            </a:r>
            <a:r>
              <a:rPr lang="en-US" sz="1200" dirty="0" err="1"/>
              <a:t>endfor</a:t>
            </a:r>
            <a:r>
              <a:rPr lang="en-US" sz="1200" dirty="0"/>
              <a:t>%}</a:t>
            </a:r>
          </a:p>
          <a:p>
            <a:r>
              <a:rPr lang="en-US" sz="1200" dirty="0"/>
              <a:t>{%</a:t>
            </a:r>
            <a:r>
              <a:rPr lang="en-US" sz="1200" dirty="0" err="1"/>
              <a:t>endwith</a:t>
            </a:r>
            <a:r>
              <a:rPr lang="en-US" sz="1200" dirty="0"/>
              <a:t>%}</a:t>
            </a:r>
          </a:p>
          <a:p>
            <a:r>
              <a:rPr lang="en-US" sz="1200" dirty="0"/>
              <a:t>    {%block content %}{%</a:t>
            </a:r>
            <a:r>
              <a:rPr lang="en-US" sz="1200" dirty="0" err="1"/>
              <a:t>endblock</a:t>
            </a:r>
            <a:r>
              <a:rPr lang="en-US" sz="1200" dirty="0"/>
              <a:t> content%}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    &lt;!-- Optional JavaScript --&gt;</a:t>
            </a:r>
          </a:p>
          <a:p>
            <a:r>
              <a:rPr lang="en-US" sz="1200" dirty="0"/>
              <a:t>    &lt;!-- jQuery first, then Popper.js, then Bootstrap JS --&gt;</a:t>
            </a:r>
          </a:p>
          <a:p>
            <a:r>
              <a:rPr lang="en-US" sz="1200" dirty="0"/>
              <a:t>    &lt;script </a:t>
            </a:r>
            <a:r>
              <a:rPr lang="en-US" sz="1200" dirty="0" err="1"/>
              <a:t>src</a:t>
            </a:r>
            <a:r>
              <a:rPr lang="en-US" sz="1200" dirty="0"/>
              <a:t>="https://code.jquery.com/jquery-3.3.1.slim.min.js" integrity="sha384-q8i/X+965DzO0rT7abK41JStQIAqVgRVzpbzo5smXKp4YfRvH+8abtTE1Pi6jizo" </a:t>
            </a:r>
            <a:r>
              <a:rPr lang="en-US" sz="1200" dirty="0" err="1"/>
              <a:t>crossorigin</a:t>
            </a:r>
            <a:r>
              <a:rPr lang="en-US" sz="1200" dirty="0"/>
              <a:t>="anonymous"&gt;&lt;/script&gt;</a:t>
            </a:r>
          </a:p>
          <a:p>
            <a:r>
              <a:rPr lang="en-US" sz="1200" dirty="0"/>
              <a:t>    &lt;script </a:t>
            </a:r>
            <a:r>
              <a:rPr lang="en-US" sz="1200" dirty="0" err="1"/>
              <a:t>src</a:t>
            </a:r>
            <a:r>
              <a:rPr lang="en-US" sz="1200" dirty="0"/>
              <a:t>="https://cdn.jsdelivr.net/</a:t>
            </a:r>
            <a:r>
              <a:rPr lang="en-US" sz="1200" dirty="0" err="1"/>
              <a:t>npm</a:t>
            </a:r>
            <a:r>
              <a:rPr lang="en-US" sz="1200" dirty="0"/>
              <a:t>/popper.js@1.14.7/</a:t>
            </a:r>
            <a:r>
              <a:rPr lang="en-US" sz="1200" dirty="0" err="1"/>
              <a:t>dist</a:t>
            </a:r>
            <a:r>
              <a:rPr lang="en-US" sz="1200" dirty="0"/>
              <a:t>/</a:t>
            </a:r>
            <a:r>
              <a:rPr lang="en-US" sz="1200" dirty="0" err="1"/>
              <a:t>umd</a:t>
            </a:r>
            <a:r>
              <a:rPr lang="en-US" sz="1200" dirty="0"/>
              <a:t>/popper.min.js" integrity="sha384-UO2eT0CpHqdSJQ6hJty5KVphtPhzWj9WO1clHTMGa3JDZwrnQq4sF86dIHNDz0W1" </a:t>
            </a:r>
            <a:r>
              <a:rPr lang="en-US" sz="1200" dirty="0" err="1"/>
              <a:t>crossorigin</a:t>
            </a:r>
            <a:r>
              <a:rPr lang="en-US" sz="1200" dirty="0"/>
              <a:t>="anonymous"&gt;&lt;/script&gt;</a:t>
            </a:r>
          </a:p>
          <a:p>
            <a:r>
              <a:rPr lang="en-US" sz="1200" dirty="0"/>
              <a:t>    &lt;script </a:t>
            </a:r>
            <a:r>
              <a:rPr lang="en-US" sz="1200" dirty="0" err="1"/>
              <a:t>src</a:t>
            </a:r>
            <a:r>
              <a:rPr lang="en-US" sz="1200" dirty="0"/>
              <a:t>="https://cdn.jsdelivr.net/</a:t>
            </a:r>
            <a:r>
              <a:rPr lang="en-US" sz="1200" dirty="0" err="1"/>
              <a:t>npm</a:t>
            </a:r>
            <a:r>
              <a:rPr lang="en-US" sz="1200" dirty="0"/>
              <a:t>/bootstrap@4.3.1/</a:t>
            </a:r>
            <a:r>
              <a:rPr lang="en-US" sz="1200" dirty="0" err="1"/>
              <a:t>dist</a:t>
            </a:r>
            <a:r>
              <a:rPr lang="en-US" sz="1200" dirty="0"/>
              <a:t>/</a:t>
            </a:r>
            <a:r>
              <a:rPr lang="en-US" sz="1200" dirty="0" err="1"/>
              <a:t>js</a:t>
            </a:r>
            <a:r>
              <a:rPr lang="en-US" sz="1200" dirty="0"/>
              <a:t>/bootstrap.min.js" integrity="sha384-JjSmVgyd0p3pXB1rRibZUAYoIIy6OrQ6VrjIEaFf/nJGzIxFDsf4x0xIM+B07jRM" </a:t>
            </a:r>
            <a:r>
              <a:rPr lang="en-US" sz="1200" dirty="0" err="1"/>
              <a:t>crossorigin</a:t>
            </a:r>
            <a:r>
              <a:rPr lang="en-US" sz="1200" dirty="0"/>
              <a:t>="anonymous"&gt;&lt;/script&gt;</a:t>
            </a:r>
          </a:p>
          <a:p>
            <a:r>
              <a:rPr lang="en-US" sz="1200" dirty="0"/>
              <a:t>  &lt;/body&gt;</a:t>
            </a:r>
          </a:p>
          <a:p>
            <a:r>
              <a:rPr lang="en-US" sz="1200" dirty="0"/>
              <a:t>&lt;/html&gt;</a:t>
            </a:r>
          </a:p>
          <a:p>
            <a:pPr marL="0" indent="0">
              <a:buNone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7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{%extends 'base.html'%}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{%block content%}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&lt;h1&gt;About Page&lt;/h1&gt;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&lt;p&gt;This is the about page of the website.&lt;/p&gt;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{%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endblock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content%}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93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FB75-49D6-8B4D-84C1-CF5DF5BB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0254E-471A-0FFC-657B-359EE6607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5530D-D2F8-30EE-6040-7E4CF30B7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40D74-626E-5984-4DEA-0BFD8B911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19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32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91" r:id="rId14"/>
    <p:sldLayoutId id="214748369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86" y="779319"/>
            <a:ext cx="5427584" cy="2142764"/>
          </a:xfrm>
        </p:spPr>
        <p:txBody>
          <a:bodyPr/>
          <a:lstStyle/>
          <a:p>
            <a:r>
              <a:rPr lang="en-US" cap="none" dirty="0"/>
              <a:t>Software Architecture And Design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E6AD96E2-40EB-B511-6347-BBBD4C981743}"/>
              </a:ext>
            </a:extLst>
          </p:cNvPr>
          <p:cNvSpPr txBox="1">
            <a:spLocks/>
          </p:cNvSpPr>
          <p:nvPr/>
        </p:nvSpPr>
        <p:spPr>
          <a:xfrm>
            <a:off x="905959" y="3429000"/>
            <a:ext cx="5427584" cy="21427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cap="none" dirty="0"/>
              <a:t>Sec.2</a:t>
            </a:r>
          </a:p>
          <a:p>
            <a:r>
              <a:rPr lang="en-US" sz="2400" cap="none" dirty="0"/>
              <a:t>Eng. Al-</a:t>
            </a:r>
            <a:r>
              <a:rPr lang="en-US" sz="2400" cap="none" dirty="0" err="1"/>
              <a:t>hassan</a:t>
            </a:r>
            <a:r>
              <a:rPr lang="en-US" sz="2400" cap="none" dirty="0"/>
              <a:t> Mohamed</a:t>
            </a:r>
          </a:p>
          <a:p>
            <a:r>
              <a:rPr lang="en-US" sz="2400" cap="none" dirty="0"/>
              <a:t>Eng. Mariam Malak</a:t>
            </a:r>
          </a:p>
        </p:txBody>
      </p:sp>
    </p:spTree>
    <p:extLst>
      <p:ext uri="{BB962C8B-B14F-4D97-AF65-F5344CB8AC3E}">
        <p14:creationId xmlns:p14="http://schemas.microsoft.com/office/powerpoint/2010/main" val="214551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  <a:p>
            <a:pPr marL="342900" indent="-342900">
              <a:buAutoNum type="arabicPeriod"/>
            </a:pPr>
            <a:r>
              <a:rPr lang="en-US" dirty="0" err="1"/>
              <a:t>Quize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Templates inheritance :include vs extend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18210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74AF-BF4E-C629-5196-77E33E84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EE8EB1-CC42-D6B3-CFF6-7D3A99B5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extends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A06472AF-E67C-FAA6-AC11-028BB2A3AD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275712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301DF-1245-D2D4-FD24-3A899CDC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56CC3D-8B14-592B-6A40-0727FB462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a template to inherit from a base (parent) template.</a:t>
            </a:r>
          </a:p>
          <a:p>
            <a:r>
              <a:rPr lang="en-US" dirty="0"/>
              <a:t>Define a common layout (skeleton) and let child templates override specific blocks.</a:t>
            </a:r>
          </a:p>
          <a:p>
            <a:r>
              <a:rPr lang="en-US" dirty="0"/>
              <a:t>We inherit from the base layout not insert it to our structure which means we have same layout or base project layout and want to change page content.</a:t>
            </a:r>
          </a:p>
          <a:p>
            <a:r>
              <a:rPr lang="en-US" dirty="0"/>
              <a:t>Constant structure but different content across pages.</a:t>
            </a:r>
          </a:p>
          <a:p>
            <a:r>
              <a:rPr lang="en-US" dirty="0"/>
              <a:t>Child templates can override blocks defined in the parent</a:t>
            </a:r>
          </a:p>
          <a:p>
            <a:r>
              <a:rPr lang="en-US" dirty="0"/>
              <a:t>More efficient for large projects since structure is centralized.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[How does this happen??]</a:t>
            </a:r>
          </a:p>
        </p:txBody>
      </p:sp>
    </p:spTree>
    <p:extLst>
      <p:ext uri="{BB962C8B-B14F-4D97-AF65-F5344CB8AC3E}">
        <p14:creationId xmlns:p14="http://schemas.microsoft.com/office/powerpoint/2010/main" val="253606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80435-1067-BC40-751A-8730441D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8CD04-03F9-F409-93AC-48BFA730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38B930-A45D-2F69-EE3B-87F5EC1E8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we will create the base file [common layout] that we’ll inherit it.</a:t>
            </a:r>
          </a:p>
          <a:p>
            <a:r>
              <a:rPr lang="en-US" dirty="0"/>
              <a:t>Where we want the content to chang, we add JINJA structure to it called block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750A2-1679-E5AE-DFE6-7E022AB6D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43" y="3114631"/>
            <a:ext cx="7430537" cy="62873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CA0289D-4FF6-CDC7-DFBC-AA714B5E7729}"/>
              </a:ext>
            </a:extLst>
          </p:cNvPr>
          <p:cNvSpPr/>
          <p:nvPr/>
        </p:nvSpPr>
        <p:spPr>
          <a:xfrm>
            <a:off x="3169920" y="3114631"/>
            <a:ext cx="1450848" cy="4754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015CEA03-4EB7-70E0-DA0D-FFA39A3E5B6B}"/>
              </a:ext>
            </a:extLst>
          </p:cNvPr>
          <p:cNvCxnSpPr/>
          <p:nvPr/>
        </p:nvCxnSpPr>
        <p:spPr>
          <a:xfrm rot="10800000" flipV="1">
            <a:off x="3084576" y="3584448"/>
            <a:ext cx="1011936" cy="573024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201FF1-E841-F150-8E47-98959BC83655}"/>
              </a:ext>
            </a:extLst>
          </p:cNvPr>
          <p:cNvSpPr txBox="1"/>
          <p:nvPr/>
        </p:nvSpPr>
        <p:spPr>
          <a:xfrm>
            <a:off x="1393179" y="3972807"/>
            <a:ext cx="1776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of the block</a:t>
            </a:r>
          </a:p>
        </p:txBody>
      </p:sp>
    </p:spTree>
    <p:extLst>
      <p:ext uri="{BB962C8B-B14F-4D97-AF65-F5344CB8AC3E}">
        <p14:creationId xmlns:p14="http://schemas.microsoft.com/office/powerpoint/2010/main" val="59370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1813-1143-8AB2-3F56-223786FC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28" y="55794"/>
            <a:ext cx="9906000" cy="931758"/>
          </a:xfrm>
        </p:spPr>
        <p:txBody>
          <a:bodyPr/>
          <a:lstStyle/>
          <a:p>
            <a:r>
              <a:rPr lang="en-US" dirty="0"/>
              <a:t>Complete base file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055452-226F-4348-6258-767A7F3DE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21" y="987552"/>
            <a:ext cx="10183786" cy="528523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2C4BA2-29EE-6980-3AFE-F252ACBEBD9F}"/>
              </a:ext>
            </a:extLst>
          </p:cNvPr>
          <p:cNvCxnSpPr/>
          <p:nvPr/>
        </p:nvCxnSpPr>
        <p:spPr>
          <a:xfrm>
            <a:off x="4632960" y="4974336"/>
            <a:ext cx="8778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8C7A9F-5B9D-9E45-8C2D-5B21973C96DA}"/>
              </a:ext>
            </a:extLst>
          </p:cNvPr>
          <p:cNvSpPr txBox="1"/>
          <p:nvPr/>
        </p:nvSpPr>
        <p:spPr>
          <a:xfrm>
            <a:off x="5608320" y="4789670"/>
            <a:ext cx="3328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Where we’ll add different views</a:t>
            </a:r>
          </a:p>
        </p:txBody>
      </p:sp>
    </p:spTree>
    <p:extLst>
      <p:ext uri="{BB962C8B-B14F-4D97-AF65-F5344CB8AC3E}">
        <p14:creationId xmlns:p14="http://schemas.microsoft.com/office/powerpoint/2010/main" val="124243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6E45-321E-5168-53DF-1729B8F3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7BCD77-0459-7890-6234-FBB20EB1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FE5AB0-54C9-3EB3-51B2-441C393AA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Second, we’ll create the file that will extend the base file  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Let’s update our </a:t>
            </a:r>
            <a:r>
              <a:rPr lang="en-US" b="1" dirty="0" err="1">
                <a:solidFill>
                  <a:srgbClr val="FF0000"/>
                </a:solidFill>
              </a:rPr>
              <a:t>jop</a:t>
            </a:r>
            <a:r>
              <a:rPr lang="en-US" b="1" dirty="0">
                <a:solidFill>
                  <a:srgbClr val="FF0000"/>
                </a:solidFill>
              </a:rPr>
              <a:t>-list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422126-AE28-281B-1BD9-437EEABD7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1" y="2816352"/>
            <a:ext cx="7834682" cy="254975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F9910E1-B7D6-4FA9-B64F-1A169B5056ED}"/>
              </a:ext>
            </a:extLst>
          </p:cNvPr>
          <p:cNvSpPr/>
          <p:nvPr/>
        </p:nvSpPr>
        <p:spPr>
          <a:xfrm>
            <a:off x="3002942" y="2749296"/>
            <a:ext cx="2316480" cy="4998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591EDA12-922F-41B5-4D91-0282E5178B73}"/>
              </a:ext>
            </a:extLst>
          </p:cNvPr>
          <p:cNvCxnSpPr>
            <a:cxnSpLocks/>
          </p:cNvCxnSpPr>
          <p:nvPr/>
        </p:nvCxnSpPr>
        <p:spPr>
          <a:xfrm flipV="1">
            <a:off x="5319422" y="2687582"/>
            <a:ext cx="843634" cy="301621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666069-C86B-A1A0-4AD7-7993E77FB91F}"/>
              </a:ext>
            </a:extLst>
          </p:cNvPr>
          <p:cNvSpPr txBox="1"/>
          <p:nvPr/>
        </p:nvSpPr>
        <p:spPr>
          <a:xfrm>
            <a:off x="6163056" y="2469060"/>
            <a:ext cx="228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of the base file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92EAB6-F209-AD6F-7DF1-3AA267E833D6}"/>
              </a:ext>
            </a:extLst>
          </p:cNvPr>
          <p:cNvSpPr/>
          <p:nvPr/>
        </p:nvSpPr>
        <p:spPr>
          <a:xfrm>
            <a:off x="2589346" y="3249168"/>
            <a:ext cx="1697074" cy="4998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A9C3426-C082-2161-3EC3-3F5552050DEB}"/>
              </a:ext>
            </a:extLst>
          </p:cNvPr>
          <p:cNvCxnSpPr>
            <a:cxnSpLocks/>
          </p:cNvCxnSpPr>
          <p:nvPr/>
        </p:nvCxnSpPr>
        <p:spPr>
          <a:xfrm flipV="1">
            <a:off x="4286420" y="3377938"/>
            <a:ext cx="1128160" cy="158496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0776D7A-E674-C70C-D201-91EAFAB3B738}"/>
              </a:ext>
            </a:extLst>
          </p:cNvPr>
          <p:cNvSpPr txBox="1"/>
          <p:nvPr/>
        </p:nvSpPr>
        <p:spPr>
          <a:xfrm>
            <a:off x="5429158" y="3109747"/>
            <a:ext cx="3364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 of the block we’ll write in “same name as in base file”</a:t>
            </a:r>
          </a:p>
        </p:txBody>
      </p:sp>
    </p:spTree>
    <p:extLst>
      <p:ext uri="{BB962C8B-B14F-4D97-AF65-F5344CB8AC3E}">
        <p14:creationId xmlns:p14="http://schemas.microsoft.com/office/powerpoint/2010/main" val="10450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22FC-C484-194F-D344-6469CA18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6A0227-FA14-4EF7-56DA-6E3884C8F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include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8A165D9B-4090-BDCD-B0EE-C9E8669A944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1830159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C774-24E9-1C06-E441-55B0E4DF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0E9C-296F-638D-9138-AC2C7AE9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09554"/>
            <a:ext cx="9906000" cy="2842862"/>
          </a:xfrm>
        </p:spPr>
        <p:txBody>
          <a:bodyPr/>
          <a:lstStyle/>
          <a:p>
            <a:r>
              <a:rPr lang="en-US" dirty="0"/>
              <a:t>Inserts another template directly into the current one.</a:t>
            </a:r>
          </a:p>
          <a:p>
            <a:r>
              <a:rPr lang="en-US" dirty="0"/>
              <a:t>Reuse small, repeatable fragments (headers, footers, navbars).</a:t>
            </a:r>
          </a:p>
          <a:p>
            <a:r>
              <a:rPr lang="en-US" dirty="0"/>
              <a:t>Renders the included file as-is, no block overriding.</a:t>
            </a:r>
          </a:p>
          <a:p>
            <a:r>
              <a:rPr lang="en-US" dirty="0"/>
              <a:t>Like copy-pasting a snippet into your file</a:t>
            </a:r>
          </a:p>
        </p:txBody>
      </p:sp>
    </p:spTree>
    <p:extLst>
      <p:ext uri="{BB962C8B-B14F-4D97-AF65-F5344CB8AC3E}">
        <p14:creationId xmlns:p14="http://schemas.microsoft.com/office/powerpoint/2010/main" val="192114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 lines design</Template>
  <TotalTime>971</TotalTime>
  <Words>711</Words>
  <Application>Microsoft Office PowerPoint</Application>
  <PresentationFormat>Widescreen</PresentationFormat>
  <Paragraphs>90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Univers Condensed Light</vt:lpstr>
      <vt:lpstr>Walbaum Display Light</vt:lpstr>
      <vt:lpstr>AngleLinesVTI</vt:lpstr>
      <vt:lpstr>Software Architecture And Design</vt:lpstr>
      <vt:lpstr>AGENDA</vt:lpstr>
      <vt:lpstr>extends</vt:lpstr>
      <vt:lpstr>extends</vt:lpstr>
      <vt:lpstr>extends</vt:lpstr>
      <vt:lpstr>Complete base file structure</vt:lpstr>
      <vt:lpstr>extends</vt:lpstr>
      <vt:lpstr>include</vt:lpstr>
      <vt:lpstr>Include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Malak</dc:creator>
  <cp:lastModifiedBy>Mariam Malak</cp:lastModifiedBy>
  <cp:revision>6</cp:revision>
  <dcterms:created xsi:type="dcterms:W3CDTF">2026-02-13T17:42:51Z</dcterms:created>
  <dcterms:modified xsi:type="dcterms:W3CDTF">2026-02-28T14:10:05Z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
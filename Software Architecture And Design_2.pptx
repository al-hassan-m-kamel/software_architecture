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26"/>
  </p:notesMasterIdLst>
  <p:handoutMasterIdLst>
    <p:handoutMasterId r:id="rId27"/>
  </p:handoutMasterIdLst>
  <p:sldIdLst>
    <p:sldId id="290" r:id="rId5"/>
    <p:sldId id="291" r:id="rId6"/>
    <p:sldId id="294" r:id="rId7"/>
    <p:sldId id="295" r:id="rId8"/>
    <p:sldId id="296" r:id="rId9"/>
    <p:sldId id="298" r:id="rId10"/>
    <p:sldId id="299" r:id="rId11"/>
    <p:sldId id="297" r:id="rId12"/>
    <p:sldId id="292" r:id="rId13"/>
    <p:sldId id="276" r:id="rId14"/>
    <p:sldId id="293" r:id="rId15"/>
    <p:sldId id="302" r:id="rId16"/>
    <p:sldId id="303" r:id="rId17"/>
    <p:sldId id="300" r:id="rId18"/>
    <p:sldId id="301" r:id="rId19"/>
    <p:sldId id="304" r:id="rId20"/>
    <p:sldId id="305" r:id="rId21"/>
    <p:sldId id="306" r:id="rId22"/>
    <p:sldId id="307" r:id="rId23"/>
    <p:sldId id="308" r:id="rId24"/>
    <p:sldId id="26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9" autoAdjust="0"/>
    <p:restoredTop sz="80865" autoAdjust="0"/>
  </p:normalViewPr>
  <p:slideViewPr>
    <p:cSldViewPr snapToGrid="0">
      <p:cViewPr varScale="1">
        <p:scale>
          <a:sx n="63" d="100"/>
          <a:sy n="63" d="100"/>
        </p:scale>
        <p:origin x="136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7EB5-CBCA-3D7B-2C80-3D6F58C02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16FDCE-1FA3-5745-DFAA-B2998F5A8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80A4A-9C39-91A0-78F2-4119C3F28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0FA59-8D9A-B748-DE94-3F4B81AD2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55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E980-9C5C-43E1-D108-BB97DB6C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69F9BC-4703-EABA-5B86-140C809B3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35ECA-DB4D-7D05-3267-2D19A4C7C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6AEBB-9CE7-CD04-4B1F-05998514C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35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465E-0834-54AE-9CDB-72D7CEE3B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25BA7-3114-311E-B087-011AEF15F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3C98C-1479-2CEE-0A5E-0D8DA7858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EAD1-0773-9F7E-1C3A-B90DF6652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08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1D39-1D2E-86E4-3D00-9152580F5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07930-D414-9324-456C-7EA32C849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613AB-A62C-F054-FD47-403A9507A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3503C-4DF5-3CD2-8D5F-2EBF90653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5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0F5C-23D0-A29D-B17F-AF1C11157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8D4FC-AF43-8D32-D257-6B9D4072F5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ECB61-BACF-699B-49B2-82A7E0DC0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9B3D8-2E3F-B10D-F123-1EF564CBA7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482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2F3B1-7611-CC74-372B-90E48DC5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4A29AD-392A-49C3-1E05-4CBD1866D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EF436-E047-97EC-9815-1CA086F0C5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1E4F9-2B8E-97A1-9318-9D61EE81BD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432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B28DD-BDDA-7218-B07A-0A4B5654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C9041-6770-62B8-9CDF-A6195D6A4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EF82F-7506-7FEC-5FB8-1741A8336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DCBCC-F69C-0717-7401-94B73F557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49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0DFE2-8F20-56E1-1B89-297ABC231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2DF305-2B29-D510-004F-A598373CE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865D8-47E3-E826-1959-89428991D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A3EE9-A22A-48E2-38C0-EAAB7C986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59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DF6C8-EFF9-D1AF-FA5A-1BA5D630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3AF9F-98EC-A759-7B6A-010CD7C03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E43AF-4F2D-3C69-A67E-E2B5EBE71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AB16B-F853-9413-EB9B-89CD22121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850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63644-9398-EFEC-55E3-D2EB1A44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811F8-4182-5A30-0B7E-3540D5B40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B91EBB-861C-157C-2AA8-D195A1DA1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BCC1F-1131-27A2-01D3-95AC9CA14F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39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A890F-33EA-F798-BCFA-3B386BA86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EBCF9-619A-AFA4-C2B8-9A5C50B48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E3DC9-ADD7-4C8B-B11F-FD89B43D0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7E204-66AA-9705-1D05-6270E7837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717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A426-C661-83B5-07BD-E4069DA1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A9643-D083-79E9-46AC-BCACC319F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C500A-9957-7060-585C-C4072E273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710A4-BF6C-25E5-7DA2-FD1D3A4A9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26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DD06-145A-5326-1671-702390CE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B93BA8-6C84-89F1-4CD3-B3C94C0A0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A62BD-941E-A6C7-6461-BACB8F9755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jobs = [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"title": "Software Engineer",</a:t>
            </a:r>
          </a:p>
          <a:p>
            <a:r>
              <a:rPr lang="en-US" dirty="0"/>
              <a:t>            "location": "San Francisco, USA",</a:t>
            </a:r>
          </a:p>
          <a:p>
            <a:r>
              <a:rPr lang="en-US" dirty="0"/>
              <a:t>            "type": "Full Time",</a:t>
            </a:r>
          </a:p>
          <a:p>
            <a:r>
              <a:rPr lang="en-US" dirty="0"/>
              <a:t>            "salary": "$80k - $120k",</a:t>
            </a:r>
          </a:p>
          <a:p>
            <a:r>
              <a:rPr lang="en-US" dirty="0"/>
              <a:t>            "logo": "</a:t>
            </a:r>
            <a:r>
              <a:rPr lang="en-US" dirty="0" err="1"/>
              <a:t>img</a:t>
            </a:r>
            <a:r>
              <a:rPr lang="en-US" dirty="0"/>
              <a:t>/com-logo-1.jpg",</a:t>
            </a:r>
          </a:p>
          <a:p>
            <a:r>
              <a:rPr lang="en-US" dirty="0"/>
              <a:t>            "deadline": "15 Mar, 2026"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"title": "Data Analyst",</a:t>
            </a:r>
          </a:p>
          <a:p>
            <a:r>
              <a:rPr lang="en-US" dirty="0"/>
              <a:t>            "location": "London, UK",</a:t>
            </a:r>
          </a:p>
          <a:p>
            <a:r>
              <a:rPr lang="en-US" dirty="0"/>
              <a:t>            "type": "Part Time",</a:t>
            </a:r>
          </a:p>
          <a:p>
            <a:r>
              <a:rPr lang="en-US" dirty="0"/>
              <a:t>            "salary": "£30k - £45k",</a:t>
            </a:r>
          </a:p>
          <a:p>
            <a:r>
              <a:rPr lang="en-US" dirty="0"/>
              <a:t>            "logo": "</a:t>
            </a:r>
            <a:r>
              <a:rPr lang="en-US" dirty="0" err="1"/>
              <a:t>img</a:t>
            </a:r>
            <a:r>
              <a:rPr lang="en-US" dirty="0"/>
              <a:t>/com-logo-2.jpg",</a:t>
            </a:r>
          </a:p>
          <a:p>
            <a:r>
              <a:rPr lang="en-US" dirty="0"/>
              <a:t>            "deadline": "01 Apr, 2026"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"title": "UX Designer",</a:t>
            </a:r>
          </a:p>
          <a:p>
            <a:r>
              <a:rPr lang="en-US" dirty="0"/>
              <a:t>            "location": "Berlin, Germany",</a:t>
            </a:r>
          </a:p>
          <a:p>
            <a:r>
              <a:rPr lang="en-US" dirty="0"/>
              <a:t>            "type": "Contract",</a:t>
            </a:r>
          </a:p>
          <a:p>
            <a:r>
              <a:rPr lang="en-US" dirty="0"/>
              <a:t>            "salary": "€50 - €70/hour",</a:t>
            </a:r>
          </a:p>
          <a:p>
            <a:r>
              <a:rPr lang="en-US" dirty="0"/>
              <a:t>            "logo": "</a:t>
            </a:r>
            <a:r>
              <a:rPr lang="en-US" dirty="0" err="1"/>
              <a:t>img</a:t>
            </a:r>
            <a:r>
              <a:rPr lang="en-US" dirty="0"/>
              <a:t>/com-logo-3.jpg",</a:t>
            </a:r>
          </a:p>
          <a:p>
            <a:r>
              <a:rPr lang="en-US" dirty="0"/>
              <a:t>            "deadline": "20 Feb, 2026"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9F7A9-2288-9334-B168-EBAAD0C7A1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43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6A5D-2146-B29E-F302-D8E5E99A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957B7-0A1D-0806-C0DD-9E90E95D5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FED2D6-FDD4-4F7F-BE0E-83AF1DDD24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jobs = [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"title": "Software Engineer",</a:t>
            </a:r>
          </a:p>
          <a:p>
            <a:r>
              <a:rPr lang="en-US" dirty="0"/>
              <a:t>            "location": "San Francisco, USA",</a:t>
            </a:r>
          </a:p>
          <a:p>
            <a:r>
              <a:rPr lang="en-US" dirty="0"/>
              <a:t>            "type": "Full Time",</a:t>
            </a:r>
          </a:p>
          <a:p>
            <a:r>
              <a:rPr lang="en-US" dirty="0"/>
              <a:t>            "salary": "$80k - $120k",</a:t>
            </a:r>
          </a:p>
          <a:p>
            <a:r>
              <a:rPr lang="en-US" dirty="0"/>
              <a:t>            "logo": "</a:t>
            </a:r>
            <a:r>
              <a:rPr lang="en-US" dirty="0" err="1"/>
              <a:t>img</a:t>
            </a:r>
            <a:r>
              <a:rPr lang="en-US" dirty="0"/>
              <a:t>/com-logo-1.jpg",</a:t>
            </a:r>
          </a:p>
          <a:p>
            <a:r>
              <a:rPr lang="en-US" dirty="0"/>
              <a:t>            "deadline": "15 Mar, 2026"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"title": "Data Analyst",</a:t>
            </a:r>
          </a:p>
          <a:p>
            <a:r>
              <a:rPr lang="en-US" dirty="0"/>
              <a:t>            "location": "London, UK",</a:t>
            </a:r>
          </a:p>
          <a:p>
            <a:r>
              <a:rPr lang="en-US" dirty="0"/>
              <a:t>            "type": "Part Time",</a:t>
            </a:r>
          </a:p>
          <a:p>
            <a:r>
              <a:rPr lang="en-US" dirty="0"/>
              <a:t>            "salary": "£30k - £45k",</a:t>
            </a:r>
          </a:p>
          <a:p>
            <a:r>
              <a:rPr lang="en-US" dirty="0"/>
              <a:t>            "logo": "</a:t>
            </a:r>
            <a:r>
              <a:rPr lang="en-US" dirty="0" err="1"/>
              <a:t>img</a:t>
            </a:r>
            <a:r>
              <a:rPr lang="en-US" dirty="0"/>
              <a:t>/com-logo-2.jpg",</a:t>
            </a:r>
          </a:p>
          <a:p>
            <a:r>
              <a:rPr lang="en-US" dirty="0"/>
              <a:t>            "deadline": "01 Apr, 2026"</a:t>
            </a:r>
          </a:p>
          <a:p>
            <a:r>
              <a:rPr lang="en-US" dirty="0"/>
              <a:t>        },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"title": "UX Designer",</a:t>
            </a:r>
          </a:p>
          <a:p>
            <a:r>
              <a:rPr lang="en-US" dirty="0"/>
              <a:t>            "location": "Berlin, Germany",</a:t>
            </a:r>
          </a:p>
          <a:p>
            <a:r>
              <a:rPr lang="en-US" dirty="0"/>
              <a:t>            "type": "Contract",</a:t>
            </a:r>
          </a:p>
          <a:p>
            <a:r>
              <a:rPr lang="en-US" dirty="0"/>
              <a:t>            "salary": "€50 - €70/hour",</a:t>
            </a:r>
          </a:p>
          <a:p>
            <a:r>
              <a:rPr lang="en-US" dirty="0"/>
              <a:t>            "logo": "</a:t>
            </a:r>
            <a:r>
              <a:rPr lang="en-US" dirty="0" err="1"/>
              <a:t>img</a:t>
            </a:r>
            <a:r>
              <a:rPr lang="en-US" dirty="0"/>
              <a:t>/com-logo-3.jpg",</a:t>
            </a:r>
          </a:p>
          <a:p>
            <a:r>
              <a:rPr lang="en-US" dirty="0"/>
              <a:t>            "deadline": "20 Feb, 2026"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6AB96-53B1-A120-DDBD-A55BC633E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42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BEAC2-8420-D989-0093-2160857A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89955-7029-4287-F79E-7914A5238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75642-0784-8863-4AD5-8CC2D074B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% , {{item}}</a:t>
            </a:r>
            <a:r>
              <a:rPr lang="en-US" dirty="0">
                <a:sym typeface="Wingdings" panose="05000000000000000000" pitchFamily="2" charset="2"/>
              </a:rPr>
              <a:t> JINJA way to deal with data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3833E-0906-50AC-4FB2-D0A719180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25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32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5" r:id="rId14"/>
    <p:sldLayoutId id="2147483691" r:id="rId15"/>
    <p:sldLayoutId id="2147483692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286" y="779319"/>
            <a:ext cx="5427584" cy="2142764"/>
          </a:xfrm>
        </p:spPr>
        <p:txBody>
          <a:bodyPr/>
          <a:lstStyle/>
          <a:p>
            <a:r>
              <a:rPr lang="en-US" cap="none" dirty="0"/>
              <a:t>Software Architecture And Design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E6AD96E2-40EB-B511-6347-BBBD4C981743}"/>
              </a:ext>
            </a:extLst>
          </p:cNvPr>
          <p:cNvSpPr txBox="1">
            <a:spLocks/>
          </p:cNvSpPr>
          <p:nvPr/>
        </p:nvSpPr>
        <p:spPr>
          <a:xfrm>
            <a:off x="905959" y="3429000"/>
            <a:ext cx="5427584" cy="21427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cap="none" dirty="0"/>
              <a:t>Sec.2</a:t>
            </a:r>
          </a:p>
          <a:p>
            <a:r>
              <a:rPr lang="en-US" sz="2400" cap="none" dirty="0"/>
              <a:t>Eng. Al-</a:t>
            </a:r>
            <a:r>
              <a:rPr lang="en-US" sz="2400" cap="none" dirty="0" err="1"/>
              <a:t>hassan</a:t>
            </a:r>
            <a:r>
              <a:rPr lang="en-US" sz="2400" cap="none" dirty="0"/>
              <a:t> Mohamed</a:t>
            </a:r>
          </a:p>
          <a:p>
            <a:r>
              <a:rPr lang="en-US" sz="2400" cap="none" dirty="0"/>
              <a:t>Eng. Mariam Malak</a:t>
            </a:r>
          </a:p>
        </p:txBody>
      </p:sp>
    </p:spTree>
    <p:extLst>
      <p:ext uri="{BB962C8B-B14F-4D97-AF65-F5344CB8AC3E}">
        <p14:creationId xmlns:p14="http://schemas.microsoft.com/office/powerpoint/2010/main" val="214551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  <a:p>
            <a:pPr marL="342900" indent="-342900">
              <a:buAutoNum type="arabicPeriod"/>
            </a:pPr>
            <a:r>
              <a:rPr lang="en-US" dirty="0"/>
              <a:t>Reading </a:t>
            </a:r>
            <a:r>
              <a:rPr lang="en-US" dirty="0" err="1"/>
              <a:t>url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Endpoint structure</a:t>
            </a:r>
          </a:p>
          <a:p>
            <a:pPr marL="342900" indent="-342900">
              <a:buAutoNum type="arabicPeriod"/>
            </a:pPr>
            <a:r>
              <a:rPr lang="en-US" dirty="0"/>
              <a:t>Files structure</a:t>
            </a:r>
          </a:p>
          <a:p>
            <a:pPr marL="342900" indent="-342900">
              <a:buAutoNum type="arabicPeriod"/>
            </a:pPr>
            <a:r>
              <a:rPr lang="en-US" dirty="0"/>
              <a:t>HTML, CSS, JS and Bootstrap</a:t>
            </a:r>
          </a:p>
          <a:p>
            <a:pPr marL="342900" indent="-342900">
              <a:buAutoNum type="arabicPeriod"/>
            </a:pPr>
            <a:r>
              <a:rPr lang="en-US" dirty="0"/>
              <a:t>JINJA 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18210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74AF-BF4E-C629-5196-77E33E849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EE8EB1-CC42-D6B3-CFF6-7D3A99B50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Reading routes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A06472AF-E67C-FAA6-AC11-028BB2A3AD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2757120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5D9B4-5FFE-2B88-65DA-1B15F3AB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5F0A9D0-BB35-4CAB-B92D-E061B9D8E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F5DE35-776B-4C7D-AF2E-514E68BD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A65E4E8-1272-4386-BDFE-0129D7A7E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6515F51-DBC6-42B8-9C34-749F69BB6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F4D357-B1CC-11F5-B6D0-BF80A2FD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951" y="230636"/>
            <a:ext cx="10529048" cy="48781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400"/>
              <a:t>URL components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73F5967-4993-405D-A3E6-84DCEFF44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085AC-239F-236A-D24F-91A8C06A8F9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219457" y="1037231"/>
            <a:ext cx="5837218" cy="5506444"/>
          </a:xfrm>
        </p:spPr>
        <p:txBody>
          <a:bodyPr vert="horz" lIns="91440" tIns="45720" rIns="91440" bIns="45720" rtlCol="0">
            <a:normAutofit/>
          </a:bodyPr>
          <a:lstStyle/>
          <a:p>
            <a:pPr fontAlgn="base"/>
            <a:r>
              <a:rPr lang="en-US" b="1" dirty="0"/>
              <a:t>Scheme:</a:t>
            </a:r>
            <a:r>
              <a:rPr lang="en-US" dirty="0"/>
              <a:t> Defines the protocol used to access the resource (e.g., http, https, ftp).</a:t>
            </a:r>
          </a:p>
          <a:p>
            <a:pPr fontAlgn="base"/>
            <a:r>
              <a:rPr lang="en-US" b="1" dirty="0"/>
              <a:t>Subdomain:</a:t>
            </a:r>
            <a:r>
              <a:rPr lang="en-US" dirty="0"/>
              <a:t> Specifies a subdivision of the main domain (e.g., www).</a:t>
            </a:r>
          </a:p>
          <a:p>
            <a:pPr fontAlgn="base"/>
            <a:r>
              <a:rPr lang="en-US" b="1" dirty="0"/>
              <a:t>Domain:</a:t>
            </a:r>
            <a:r>
              <a:rPr lang="en-US" dirty="0"/>
              <a:t> Identifies the main website name (e.g., example).</a:t>
            </a:r>
          </a:p>
          <a:p>
            <a:pPr fontAlgn="base"/>
            <a:r>
              <a:rPr lang="en-US" b="1" dirty="0"/>
              <a:t>Top-Level Domain (TLD):</a:t>
            </a:r>
            <a:r>
              <a:rPr lang="en-US" dirty="0"/>
              <a:t> Indicates the domain extension (e.g., .com, .org).</a:t>
            </a:r>
          </a:p>
          <a:p>
            <a:pPr fontAlgn="base"/>
            <a:r>
              <a:rPr lang="en-US" b="1" dirty="0"/>
              <a:t>Port Number:</a:t>
            </a:r>
            <a:r>
              <a:rPr lang="en-US" dirty="0"/>
              <a:t> Specifies the server port (default: 80 for HTTP, 443 for HTTPS).</a:t>
            </a:r>
          </a:p>
          <a:p>
            <a:pPr fontAlgn="base"/>
            <a:r>
              <a:rPr lang="en-US" b="1" dirty="0"/>
              <a:t>Path:</a:t>
            </a:r>
            <a:r>
              <a:rPr lang="en-US" dirty="0"/>
              <a:t> Points to the resource location on the server.</a:t>
            </a:r>
          </a:p>
          <a:p>
            <a:pPr fontAlgn="base"/>
            <a:r>
              <a:rPr lang="en-US" b="1" dirty="0"/>
              <a:t>Query String Separator:</a:t>
            </a:r>
            <a:r>
              <a:rPr lang="en-US" dirty="0"/>
              <a:t> The ? symbol that starts query parameters.</a:t>
            </a:r>
          </a:p>
          <a:p>
            <a:pPr fontAlgn="base"/>
            <a:r>
              <a:rPr lang="en-US" b="1" dirty="0"/>
              <a:t>Query String / Parameters:</a:t>
            </a:r>
            <a:r>
              <a:rPr lang="en-US" dirty="0"/>
              <a:t> Passes data as key–value pairs using &amp;.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A523CC-BD6C-4A0D-B9DB-1DC2CE1E2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271E02F-6243-0618-AA9B-869FEA085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326" y="685800"/>
            <a:ext cx="5735173" cy="354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784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76AE0B-FCFE-6B2A-CA68-CD16425A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80630F-108E-6A4E-2A2A-336BC4580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064E1E-790F-6152-D529-8366EFFD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50C74C-1518-E192-A439-91443560E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FD6DF3-ECF7-157B-A3EE-472AFB8D0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5E3DF4-D91B-AD2A-ADE5-6483A09D5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71E425-FDEA-2A2C-22DA-BB51A50BF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C672F8-11F4-9C4F-1241-687A9A17D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CAFED57-7DFF-ED77-9695-B41CC8598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FB4FFBD-9764-FCC3-85DA-67F419539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0D80EA-9AA5-85A4-0575-C0214FD36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A8693DA-B661-90DF-8B75-DA9DE11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63A6A41-7016-A62E-67E6-9CF135B3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951" y="230636"/>
            <a:ext cx="10529048" cy="48781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400" dirty="0"/>
              <a:t>URL components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D41AB2-C23F-798F-DAEB-F8E206D4C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424E27-73E6-6763-824F-40690572D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C61DAAF-C06A-8568-DB7B-76B547B01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93"/>
          <a:stretch>
            <a:fillRect/>
          </a:stretch>
        </p:blipFill>
        <p:spPr>
          <a:xfrm>
            <a:off x="987467" y="1159150"/>
            <a:ext cx="3096698" cy="923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E9532-0671-CF8F-91B6-186DFB13C5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3747" y="1044002"/>
            <a:ext cx="2648623" cy="1012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7E5BD2-2D5B-EEC5-A0AF-A2E897273C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826" y="3034164"/>
            <a:ext cx="2691109" cy="1107824"/>
          </a:xfrm>
          <a:prstGeom prst="rect">
            <a:avLst/>
          </a:prstGeom>
        </p:spPr>
      </p:pic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78B91A06-6A28-6F32-C681-619B1F6314E9}"/>
              </a:ext>
            </a:extLst>
          </p:cNvPr>
          <p:cNvCxnSpPr/>
          <p:nvPr/>
        </p:nvCxnSpPr>
        <p:spPr>
          <a:xfrm rot="5400000">
            <a:off x="793111" y="2242697"/>
            <a:ext cx="1987296" cy="1232654"/>
          </a:xfrm>
          <a:prstGeom prst="curved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061E836-8CDB-2A07-1059-9C82BFB3568A}"/>
              </a:ext>
            </a:extLst>
          </p:cNvPr>
          <p:cNvCxnSpPr/>
          <p:nvPr/>
        </p:nvCxnSpPr>
        <p:spPr>
          <a:xfrm>
            <a:off x="1853184" y="1865376"/>
            <a:ext cx="98755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CC1639F-3A8F-5377-B817-CE63B73E9C72}"/>
              </a:ext>
            </a:extLst>
          </p:cNvPr>
          <p:cNvSpPr/>
          <p:nvPr/>
        </p:nvSpPr>
        <p:spPr>
          <a:xfrm>
            <a:off x="180655" y="3974592"/>
            <a:ext cx="1914144" cy="1783956"/>
          </a:xfrm>
          <a:custGeom>
            <a:avLst/>
            <a:gdLst>
              <a:gd name="csX0" fmla="*/ 0 w 1914144"/>
              <a:gd name="csY0" fmla="*/ 891978 h 1783956"/>
              <a:gd name="csX1" fmla="*/ 957072 w 1914144"/>
              <a:gd name="csY1" fmla="*/ 0 h 1783956"/>
              <a:gd name="csX2" fmla="*/ 1914144 w 1914144"/>
              <a:gd name="csY2" fmla="*/ 891978 h 1783956"/>
              <a:gd name="csX3" fmla="*/ 957072 w 1914144"/>
              <a:gd name="csY3" fmla="*/ 1783956 h 1783956"/>
              <a:gd name="csX4" fmla="*/ 0 w 1914144"/>
              <a:gd name="csY4" fmla="*/ 891978 h 1783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14144" h="1783956" extrusionOk="0">
                <a:moveTo>
                  <a:pt x="0" y="891978"/>
                </a:moveTo>
                <a:cubicBezTo>
                  <a:pt x="-97927" y="284197"/>
                  <a:pt x="462996" y="-12526"/>
                  <a:pt x="957072" y="0"/>
                </a:cubicBezTo>
                <a:cubicBezTo>
                  <a:pt x="1448104" y="21094"/>
                  <a:pt x="1996454" y="374790"/>
                  <a:pt x="1914144" y="891978"/>
                </a:cubicBezTo>
                <a:cubicBezTo>
                  <a:pt x="1853444" y="1263584"/>
                  <a:pt x="1450002" y="1894872"/>
                  <a:pt x="957072" y="1783956"/>
                </a:cubicBezTo>
                <a:cubicBezTo>
                  <a:pt x="450089" y="1754168"/>
                  <a:pt x="100581" y="1376327"/>
                  <a:pt x="0" y="891978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7C25C0-38C1-7DB2-0E18-57E7ED3485AC}"/>
              </a:ext>
            </a:extLst>
          </p:cNvPr>
          <p:cNvSpPr txBox="1"/>
          <p:nvPr/>
        </p:nvSpPr>
        <p:spPr>
          <a:xfrm>
            <a:off x="437077" y="4281795"/>
            <a:ext cx="1401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Domain</a:t>
            </a:r>
          </a:p>
          <a:p>
            <a:pPr algn="ctr"/>
            <a:r>
              <a:rPr lang="en-US" sz="3200" dirty="0"/>
              <a:t>IP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ABDFE55B-AB0F-6DD9-AFEB-077B78570F30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23216" y="2629320"/>
            <a:ext cx="1947059" cy="499643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A1A49CB-686F-DE2F-F158-53FE7FC5F9C1}"/>
              </a:ext>
            </a:extLst>
          </p:cNvPr>
          <p:cNvCxnSpPr>
            <a:cxnSpLocks/>
          </p:cNvCxnSpPr>
          <p:nvPr/>
        </p:nvCxnSpPr>
        <p:spPr>
          <a:xfrm>
            <a:off x="2968654" y="1862291"/>
            <a:ext cx="54990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94B933AD-AD84-27D8-02A8-3A01BDBD34DD}"/>
              </a:ext>
            </a:extLst>
          </p:cNvPr>
          <p:cNvSpPr/>
          <p:nvPr/>
        </p:nvSpPr>
        <p:spPr>
          <a:xfrm>
            <a:off x="2745572" y="4039896"/>
            <a:ext cx="1914144" cy="1783956"/>
          </a:xfrm>
          <a:custGeom>
            <a:avLst/>
            <a:gdLst>
              <a:gd name="csX0" fmla="*/ 0 w 1914144"/>
              <a:gd name="csY0" fmla="*/ 891978 h 1783956"/>
              <a:gd name="csX1" fmla="*/ 957072 w 1914144"/>
              <a:gd name="csY1" fmla="*/ 0 h 1783956"/>
              <a:gd name="csX2" fmla="*/ 1914144 w 1914144"/>
              <a:gd name="csY2" fmla="*/ 891978 h 1783956"/>
              <a:gd name="csX3" fmla="*/ 957072 w 1914144"/>
              <a:gd name="csY3" fmla="*/ 1783956 h 1783956"/>
              <a:gd name="csX4" fmla="*/ 0 w 1914144"/>
              <a:gd name="csY4" fmla="*/ 891978 h 1783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14144" h="1783956" extrusionOk="0">
                <a:moveTo>
                  <a:pt x="0" y="891978"/>
                </a:moveTo>
                <a:cubicBezTo>
                  <a:pt x="-97927" y="284197"/>
                  <a:pt x="462996" y="-12526"/>
                  <a:pt x="957072" y="0"/>
                </a:cubicBezTo>
                <a:cubicBezTo>
                  <a:pt x="1448104" y="21094"/>
                  <a:pt x="1996454" y="374790"/>
                  <a:pt x="1914144" y="891978"/>
                </a:cubicBezTo>
                <a:cubicBezTo>
                  <a:pt x="1853444" y="1263584"/>
                  <a:pt x="1450002" y="1894872"/>
                  <a:pt x="957072" y="1783956"/>
                </a:cubicBezTo>
                <a:cubicBezTo>
                  <a:pt x="450089" y="1754168"/>
                  <a:pt x="100581" y="1376327"/>
                  <a:pt x="0" y="891978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114EE1-4A8D-EE9B-1BC8-E0624D8492A1}"/>
              </a:ext>
            </a:extLst>
          </p:cNvPr>
          <p:cNvSpPr txBox="1"/>
          <p:nvPr/>
        </p:nvSpPr>
        <p:spPr>
          <a:xfrm>
            <a:off x="3020462" y="4452740"/>
            <a:ext cx="1401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Port </a:t>
            </a:r>
          </a:p>
          <a:p>
            <a:pPr algn="ctr"/>
            <a:r>
              <a:rPr lang="en-US" sz="3200" dirty="0"/>
              <a:t>number</a:t>
            </a:r>
          </a:p>
        </p:txBody>
      </p:sp>
      <p:sp>
        <p:nvSpPr>
          <p:cNvPr id="40" name="Equals 39">
            <a:extLst>
              <a:ext uri="{FF2B5EF4-FFF2-40B4-BE49-F238E27FC236}">
                <a16:creationId xmlns:a16="http://schemas.microsoft.com/office/drawing/2014/main" id="{C23930AD-8914-4EE2-6AFA-2AA4A599AE6E}"/>
              </a:ext>
            </a:extLst>
          </p:cNvPr>
          <p:cNvSpPr/>
          <p:nvPr/>
        </p:nvSpPr>
        <p:spPr>
          <a:xfrm>
            <a:off x="4421762" y="1402080"/>
            <a:ext cx="377639" cy="503531"/>
          </a:xfrm>
          <a:prstGeom prst="mathEqual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7FDDC25-EAAC-0AA9-5133-DCD1E686C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725" y="1152688"/>
            <a:ext cx="2324686" cy="795538"/>
          </a:xfrm>
          <a:prstGeom prst="rect">
            <a:avLst/>
          </a:prstGeom>
        </p:spPr>
      </p:pic>
      <p:sp>
        <p:nvSpPr>
          <p:cNvPr id="43" name="Equals 42">
            <a:extLst>
              <a:ext uri="{FF2B5EF4-FFF2-40B4-BE49-F238E27FC236}">
                <a16:creationId xmlns:a16="http://schemas.microsoft.com/office/drawing/2014/main" id="{146C6AA9-EBAA-46DC-3FEB-EF5CDA4FFC44}"/>
              </a:ext>
            </a:extLst>
          </p:cNvPr>
          <p:cNvSpPr/>
          <p:nvPr/>
        </p:nvSpPr>
        <p:spPr>
          <a:xfrm>
            <a:off x="7904296" y="1321161"/>
            <a:ext cx="377639" cy="503531"/>
          </a:xfrm>
          <a:prstGeom prst="mathEqual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37B1A84C-B749-12C8-B65E-0D4A4028B04F}"/>
              </a:ext>
            </a:extLst>
          </p:cNvPr>
          <p:cNvCxnSpPr>
            <a:cxnSpLocks/>
          </p:cNvCxnSpPr>
          <p:nvPr/>
        </p:nvCxnSpPr>
        <p:spPr>
          <a:xfrm>
            <a:off x="8398118" y="3429000"/>
            <a:ext cx="1023228" cy="545592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D208B134-5622-742F-7FDC-F169C719F4C4}"/>
              </a:ext>
            </a:extLst>
          </p:cNvPr>
          <p:cNvSpPr/>
          <p:nvPr/>
        </p:nvSpPr>
        <p:spPr>
          <a:xfrm>
            <a:off x="9630371" y="2945238"/>
            <a:ext cx="1914144" cy="1783956"/>
          </a:xfrm>
          <a:custGeom>
            <a:avLst/>
            <a:gdLst>
              <a:gd name="csX0" fmla="*/ 0 w 1914144"/>
              <a:gd name="csY0" fmla="*/ 891978 h 1783956"/>
              <a:gd name="csX1" fmla="*/ 957072 w 1914144"/>
              <a:gd name="csY1" fmla="*/ 0 h 1783956"/>
              <a:gd name="csX2" fmla="*/ 1914144 w 1914144"/>
              <a:gd name="csY2" fmla="*/ 891978 h 1783956"/>
              <a:gd name="csX3" fmla="*/ 957072 w 1914144"/>
              <a:gd name="csY3" fmla="*/ 1783956 h 1783956"/>
              <a:gd name="csX4" fmla="*/ 0 w 1914144"/>
              <a:gd name="csY4" fmla="*/ 891978 h 1783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14144" h="1783956" extrusionOk="0">
                <a:moveTo>
                  <a:pt x="0" y="891978"/>
                </a:moveTo>
                <a:cubicBezTo>
                  <a:pt x="-97927" y="284197"/>
                  <a:pt x="462996" y="-12526"/>
                  <a:pt x="957072" y="0"/>
                </a:cubicBezTo>
                <a:cubicBezTo>
                  <a:pt x="1448104" y="21094"/>
                  <a:pt x="1996454" y="374790"/>
                  <a:pt x="1914144" y="891978"/>
                </a:cubicBezTo>
                <a:cubicBezTo>
                  <a:pt x="1853444" y="1263584"/>
                  <a:pt x="1450002" y="1894872"/>
                  <a:pt x="957072" y="1783956"/>
                </a:cubicBezTo>
                <a:cubicBezTo>
                  <a:pt x="450089" y="1754168"/>
                  <a:pt x="100581" y="1376327"/>
                  <a:pt x="0" y="891978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27A3A0-DE41-CFD3-830E-A84EB16CA31C}"/>
              </a:ext>
            </a:extLst>
          </p:cNvPr>
          <p:cNvSpPr txBox="1"/>
          <p:nvPr/>
        </p:nvSpPr>
        <p:spPr>
          <a:xfrm>
            <a:off x="9924179" y="3285502"/>
            <a:ext cx="1401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To ask for specific page</a:t>
            </a:r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29333461-13A8-6709-DFAB-2565552D37A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93618" y="4050155"/>
            <a:ext cx="792504" cy="315171"/>
          </a:xfrm>
          <a:prstGeom prst="curved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DBEDF67-3E7C-0B53-86CA-1D1369987DAD}"/>
              </a:ext>
            </a:extLst>
          </p:cNvPr>
          <p:cNvCxnSpPr>
            <a:cxnSpLocks/>
          </p:cNvCxnSpPr>
          <p:nvPr/>
        </p:nvCxnSpPr>
        <p:spPr>
          <a:xfrm>
            <a:off x="7254016" y="3768168"/>
            <a:ext cx="54990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84FB09FD-D3B7-FB4A-C52C-D25E3E818F79}"/>
              </a:ext>
            </a:extLst>
          </p:cNvPr>
          <p:cNvSpPr/>
          <p:nvPr/>
        </p:nvSpPr>
        <p:spPr>
          <a:xfrm>
            <a:off x="6936380" y="4630806"/>
            <a:ext cx="1914144" cy="1783956"/>
          </a:xfrm>
          <a:custGeom>
            <a:avLst/>
            <a:gdLst>
              <a:gd name="csX0" fmla="*/ 0 w 1914144"/>
              <a:gd name="csY0" fmla="*/ 891978 h 1783956"/>
              <a:gd name="csX1" fmla="*/ 957072 w 1914144"/>
              <a:gd name="csY1" fmla="*/ 0 h 1783956"/>
              <a:gd name="csX2" fmla="*/ 1914144 w 1914144"/>
              <a:gd name="csY2" fmla="*/ 891978 h 1783956"/>
              <a:gd name="csX3" fmla="*/ 957072 w 1914144"/>
              <a:gd name="csY3" fmla="*/ 1783956 h 1783956"/>
              <a:gd name="csX4" fmla="*/ 0 w 1914144"/>
              <a:gd name="csY4" fmla="*/ 891978 h 1783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14144" h="1783956" extrusionOk="0">
                <a:moveTo>
                  <a:pt x="0" y="891978"/>
                </a:moveTo>
                <a:cubicBezTo>
                  <a:pt x="-97927" y="284197"/>
                  <a:pt x="462996" y="-12526"/>
                  <a:pt x="957072" y="0"/>
                </a:cubicBezTo>
                <a:cubicBezTo>
                  <a:pt x="1448104" y="21094"/>
                  <a:pt x="1996454" y="374790"/>
                  <a:pt x="1914144" y="891978"/>
                </a:cubicBezTo>
                <a:cubicBezTo>
                  <a:pt x="1853444" y="1263584"/>
                  <a:pt x="1450002" y="1894872"/>
                  <a:pt x="957072" y="1783956"/>
                </a:cubicBezTo>
                <a:cubicBezTo>
                  <a:pt x="450089" y="1754168"/>
                  <a:pt x="100581" y="1376327"/>
                  <a:pt x="0" y="891978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87924873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F4548A-47E6-3FBB-6173-14FE24071930}"/>
              </a:ext>
            </a:extLst>
          </p:cNvPr>
          <p:cNvSpPr txBox="1"/>
          <p:nvPr/>
        </p:nvSpPr>
        <p:spPr>
          <a:xfrm>
            <a:off x="7166055" y="4833342"/>
            <a:ext cx="1401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Api’s route</a:t>
            </a:r>
          </a:p>
        </p:txBody>
      </p:sp>
    </p:spTree>
    <p:extLst>
      <p:ext uri="{BB962C8B-B14F-4D97-AF65-F5344CB8AC3E}">
        <p14:creationId xmlns:p14="http://schemas.microsoft.com/office/powerpoint/2010/main" val="372947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D28C6-6207-FDCB-4F3C-56099A13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AB61CE-F001-5655-E7AC-72AA16553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Endpoint structure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C252294E-ED9A-980B-F084-098AEDEB459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112398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D75AE-3A48-37CD-A74E-00D7677B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5F0A9D0-BB35-4CAB-B92D-E061B9D8E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2F5DE35-776B-4C7D-AF2E-514E68BD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A65E4E8-1272-4386-BDFE-0129D7A7E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6515F51-DBC6-42B8-9C34-749F69BB6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8B3BA68-AEC5-ED6C-87A6-3A187734A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370" y="175145"/>
            <a:ext cx="10529048" cy="752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Endpoint structure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873F5967-4993-405D-A3E6-84DCEFF44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31A33A-0B72-E769-4AD6-A71E9248BC1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49180" y="1885106"/>
            <a:ext cx="5455708" cy="3568219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@app </a:t>
            </a: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dirty="0">
                <a:sym typeface="Wingdings" panose="05000000000000000000" pitchFamily="2" charset="2"/>
              </a:rPr>
              <a:t>our object from Flask class</a:t>
            </a:r>
          </a:p>
          <a:p>
            <a:pPr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route  </a:t>
            </a:r>
            <a:r>
              <a:rPr lang="en-US" sz="2400" dirty="0">
                <a:sym typeface="Wingdings" panose="05000000000000000000" pitchFamily="2" charset="2"/>
              </a:rPr>
              <a:t>defining the last part of the </a:t>
            </a:r>
            <a:r>
              <a:rPr lang="en-US" sz="2400" dirty="0" err="1">
                <a:sym typeface="Wingdings" panose="05000000000000000000" pitchFamily="2" charset="2"/>
              </a:rPr>
              <a:t>url</a:t>
            </a:r>
            <a:r>
              <a:rPr lang="en-US" sz="2400" dirty="0">
                <a:sym typeface="Wingdings" panose="05000000000000000000" pitchFamily="2" charset="2"/>
              </a:rPr>
              <a:t> and through it we define if the </a:t>
            </a:r>
            <a:r>
              <a:rPr lang="en-US" sz="2400" dirty="0" err="1">
                <a:sym typeface="Wingdings" panose="05000000000000000000" pitchFamily="2" charset="2"/>
              </a:rPr>
              <a:t>api</a:t>
            </a:r>
            <a:r>
              <a:rPr lang="en-US" sz="2400" dirty="0">
                <a:sym typeface="Wingdings" panose="05000000000000000000" pitchFamily="2" charset="2"/>
              </a:rPr>
              <a:t> needs parameters or not to be sent through the </a:t>
            </a:r>
            <a:r>
              <a:rPr lang="en-US" sz="2400" dirty="0" err="1">
                <a:sym typeface="Wingdings" panose="05000000000000000000" pitchFamily="2" charset="2"/>
              </a:rPr>
              <a:t>url</a:t>
            </a:r>
            <a:r>
              <a:rPr lang="en-US" sz="2400" dirty="0">
                <a:sym typeface="Wingdings" panose="05000000000000000000" pitchFamily="2" charset="2"/>
              </a:rPr>
              <a:t>.</a:t>
            </a:r>
          </a:p>
          <a:p>
            <a:pPr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‘/ ‘ or ‘/home’  </a:t>
            </a:r>
            <a:r>
              <a:rPr lang="en-US" sz="2400" dirty="0">
                <a:sym typeface="Wingdings" panose="05000000000000000000" pitchFamily="2" charset="2"/>
              </a:rPr>
              <a:t>your </a:t>
            </a:r>
            <a:r>
              <a:rPr lang="en-US" sz="2400" dirty="0" err="1">
                <a:sym typeface="Wingdings" panose="05000000000000000000" pitchFamily="2" charset="2"/>
              </a:rPr>
              <a:t>url</a:t>
            </a:r>
            <a:r>
              <a:rPr lang="en-US" sz="2400" dirty="0">
                <a:sym typeface="Wingdings" panose="05000000000000000000" pitchFamily="2" charset="2"/>
              </a:rPr>
              <a:t> to call this </a:t>
            </a:r>
            <a:r>
              <a:rPr lang="en-US" sz="2400" dirty="0" err="1">
                <a:sym typeface="Wingdings" panose="05000000000000000000" pitchFamily="2" charset="2"/>
              </a:rPr>
              <a:t>api</a:t>
            </a:r>
            <a:endParaRPr lang="en-US" sz="2400" dirty="0">
              <a:sym typeface="Wingdings" panose="05000000000000000000" pitchFamily="2" charset="2"/>
            </a:endParaRPr>
          </a:p>
          <a:p>
            <a:pPr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ym typeface="Wingdings" panose="05000000000000000000" pitchFamily="2" charset="2"/>
              </a:rPr>
              <a:t>render_template</a:t>
            </a:r>
            <a:r>
              <a:rPr lang="en-US" sz="2400" b="1" dirty="0">
                <a:sym typeface="Wingdings" panose="05000000000000000000" pitchFamily="2" charset="2"/>
              </a:rPr>
              <a:t>(‘home.html’)  </a:t>
            </a:r>
            <a:r>
              <a:rPr lang="en-US" sz="2400" dirty="0">
                <a:sym typeface="Wingdings" panose="05000000000000000000" pitchFamily="2" charset="2"/>
              </a:rPr>
              <a:t>to go to specific web page when running this </a:t>
            </a:r>
            <a:r>
              <a:rPr lang="en-US" sz="2400" dirty="0" err="1">
                <a:sym typeface="Wingdings" panose="05000000000000000000" pitchFamily="2" charset="2"/>
              </a:rPr>
              <a:t>api</a:t>
            </a:r>
            <a:r>
              <a:rPr lang="en-US" sz="2400" dirty="0">
                <a:sym typeface="Wingdings" panose="05000000000000000000" pitchFamily="2" charset="2"/>
              </a:rPr>
              <a:t> instead of white page.</a:t>
            </a:r>
          </a:p>
          <a:p>
            <a:pPr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The default request method is GET method </a:t>
            </a:r>
            <a:endParaRPr lang="en-US" sz="2400" b="1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3A523CC-BD6C-4A0D-B9DB-1DC2CE1E2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DB6A4F6-E6B9-CB68-FA39-E6AB54B59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627" y="1781214"/>
            <a:ext cx="5662612" cy="315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51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559D4-EF67-F6A4-85D8-AA3BF609D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4EFA6D-2140-B987-A6F3-B2BA7C473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File structure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69074FBF-4C63-F6D5-3168-5F21624418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295459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2171661-0838-4942-A149-8C1B78926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519111"/>
            <a:ext cx="5435010" cy="8582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dirty="0"/>
              <a:t>File structure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4CFFC8CC-8357-4EAE-8DE4-28B285E7F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5979"/>
            <a:ext cx="4906370" cy="6869953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30885" h="6869951">
                <a:moveTo>
                  <a:pt x="1754909" y="0"/>
                </a:moveTo>
                <a:lnTo>
                  <a:pt x="6430885" y="11953"/>
                </a:lnTo>
                <a:lnTo>
                  <a:pt x="6430885" y="6869951"/>
                </a:lnTo>
                <a:lnTo>
                  <a:pt x="0" y="6869951"/>
                </a:lnTo>
                <a:lnTo>
                  <a:pt x="175490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04A404-AF1E-4EC9-AF7D-46C68BFCE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2941093" y="-5979"/>
            <a:ext cx="2549950" cy="686397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6E6BD13-4E60-1C3A-262F-C69795DB9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94" y="187413"/>
            <a:ext cx="5435010" cy="59818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1" y="1377387"/>
            <a:ext cx="5435010" cy="479191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We create “static” folder </a:t>
            </a:r>
            <a:r>
              <a:rPr lang="en-US" sz="2000" b="1" dirty="0">
                <a:sym typeface="Wingdings" panose="05000000000000000000" pitchFamily="2" charset="2"/>
              </a:rPr>
              <a:t> to put all </a:t>
            </a:r>
            <a:r>
              <a:rPr lang="en-US" sz="2000" b="1" dirty="0" err="1">
                <a:sym typeface="Wingdings" panose="05000000000000000000" pitchFamily="2" charset="2"/>
              </a:rPr>
              <a:t>css</a:t>
            </a:r>
            <a:r>
              <a:rPr lang="en-US" sz="2000" b="1" dirty="0">
                <a:sym typeface="Wingdings" panose="05000000000000000000" pitchFamily="2" charset="2"/>
              </a:rPr>
              <a:t> files, images, and </a:t>
            </a:r>
            <a:r>
              <a:rPr lang="en-US" sz="2000" b="1" dirty="0" err="1">
                <a:sym typeface="Wingdings" panose="05000000000000000000" pitchFamily="2" charset="2"/>
              </a:rPr>
              <a:t>js</a:t>
            </a:r>
            <a:r>
              <a:rPr lang="en-US" sz="2000" b="1" dirty="0">
                <a:sym typeface="Wingdings" panose="05000000000000000000" pitchFamily="2" charset="2"/>
              </a:rPr>
              <a:t> files in it , which means we put all files that are static to the project. 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This file has one valid name which is “static”, don’t change it because flask search for it with that name to load all static files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We create “templates” folder  to put all our templates which are html files 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ym typeface="Wingdings" panose="05000000000000000000" pitchFamily="2" charset="2"/>
              </a:rPr>
              <a:t>Any other file is outside these folders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4417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HTML, CSS, JS and Bootstrap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Home page for “job portal”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First, create “.html” file in template folder and name it.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Design your home page.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Add </a:t>
            </a:r>
            <a:r>
              <a:rPr lang="en-US" sz="2400" b="1" dirty="0" err="1">
                <a:solidFill>
                  <a:schemeClr val="tx1"/>
                </a:solidFill>
              </a:rPr>
              <a:t>css</a:t>
            </a:r>
            <a:r>
              <a:rPr lang="en-US" sz="2400" b="1" dirty="0">
                <a:solidFill>
                  <a:schemeClr val="tx1"/>
                </a:solidFill>
              </a:rPr>
              <a:t>, </a:t>
            </a:r>
            <a:r>
              <a:rPr lang="en-US" sz="2400" b="1" dirty="0" err="1">
                <a:solidFill>
                  <a:schemeClr val="tx1"/>
                </a:solidFill>
              </a:rPr>
              <a:t>js</a:t>
            </a:r>
            <a:r>
              <a:rPr lang="en-US" sz="2400" b="1" dirty="0">
                <a:solidFill>
                  <a:schemeClr val="tx1"/>
                </a:solidFill>
              </a:rPr>
              <a:t> and images in static folder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Pct val="80000"/>
              <a:buFont typeface="+mj-lt"/>
              <a:buAutoNum type="arabicPeriod"/>
              <a:tabLst/>
              <a:defRPr/>
            </a:pPr>
            <a:r>
              <a:rPr lang="en-US" sz="2400" b="1" dirty="0">
                <a:solidFill>
                  <a:schemeClr val="tx1"/>
                </a:solidFill>
              </a:rPr>
              <a:t>To connect them correctly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  <a:sym typeface="Wingdings" panose="05000000000000000000" pitchFamily="2" charset="2"/>
              </a:rPr>
              <a:t>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Pct val="80000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&lt;link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href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="{{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url_for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('static', filename=‘/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css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/style.css') }}"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rel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="stylesheet"&gt;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&lt;link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href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="{{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url_for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('static', filename=‘/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img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/carousel-1.jpg'}}"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rel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="stylesheet"&gt;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&lt;link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href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="{{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url_for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('static', filename=‘/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js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/main.js') }}"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rel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Univers Condensed Light"/>
                <a:ea typeface="+mn-ea"/>
                <a:cs typeface="+mn-cs"/>
              </a:rPr>
              <a:t>="stylesheet"&gt;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Condensed Light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Tx/>
              <a:buSzPct val="80000"/>
              <a:tabLst/>
              <a:defRPr/>
            </a:pPr>
            <a:endParaRPr lang="en-US" sz="24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To make </a:t>
            </a:r>
            <a:r>
              <a:rPr lang="en-US" sz="2400" b="1" dirty="0" err="1">
                <a:solidFill>
                  <a:schemeClr val="tx1"/>
                </a:solidFill>
              </a:rPr>
              <a:t>api</a:t>
            </a:r>
            <a:r>
              <a:rPr lang="en-US" sz="2400" b="1" dirty="0">
                <a:solidFill>
                  <a:schemeClr val="tx1"/>
                </a:solidFill>
              </a:rPr>
              <a:t> return the home page not a white one , we use </a:t>
            </a:r>
            <a:r>
              <a:rPr lang="en-US" sz="2400" b="1" dirty="0">
                <a:solidFill>
                  <a:srgbClr val="FF0000"/>
                </a:solidFill>
              </a:rPr>
              <a:t>“</a:t>
            </a:r>
            <a:r>
              <a:rPr lang="en-US" sz="2400" b="1" dirty="0" err="1">
                <a:solidFill>
                  <a:srgbClr val="FF0000"/>
                </a:solidFill>
              </a:rPr>
              <a:t>render_template</a:t>
            </a:r>
            <a:r>
              <a:rPr lang="en-US" sz="2400" b="1" dirty="0">
                <a:solidFill>
                  <a:srgbClr val="FF0000"/>
                </a:solidFill>
              </a:rPr>
              <a:t>(home.html’)” [DON’T forget import it from flask]</a:t>
            </a:r>
          </a:p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21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2DE4-05A0-A29F-8969-CF95CC07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9F6F0-7C2C-AAAC-23EB-50413021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Home page for “job portal”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E6C17-868C-88FD-DB0E-FE11926FA52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1024128"/>
            <a:ext cx="4937761" cy="555628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Now, we want to convert from this:  </a:t>
            </a: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678DC3-77CD-AF42-C282-1E09CC06E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55"/>
          <a:stretch>
            <a:fillRect/>
          </a:stretch>
        </p:blipFill>
        <p:spPr>
          <a:xfrm>
            <a:off x="420064" y="1637578"/>
            <a:ext cx="4937760" cy="5054074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D055B73-4946-6A16-3F38-B282ABB7994E}"/>
              </a:ext>
            </a:extLst>
          </p:cNvPr>
          <p:cNvSpPr txBox="1">
            <a:spLocks/>
          </p:cNvSpPr>
          <p:nvPr/>
        </p:nvSpPr>
        <p:spPr>
          <a:xfrm>
            <a:off x="5786845" y="1135367"/>
            <a:ext cx="4937761" cy="555628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To this with the same output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[changing default page ]:  </a:t>
            </a: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39B590-FFEA-09A2-82BC-26AB9A2CC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53" r="50000" b="1"/>
          <a:stretch>
            <a:fillRect/>
          </a:stretch>
        </p:blipFill>
        <p:spPr>
          <a:xfrm>
            <a:off x="5746196" y="2318231"/>
            <a:ext cx="5596719" cy="400397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993F9F3-6409-7046-8098-BB453728E8B3}"/>
              </a:ext>
            </a:extLst>
          </p:cNvPr>
          <p:cNvSpPr/>
          <p:nvPr/>
        </p:nvSpPr>
        <p:spPr>
          <a:xfrm>
            <a:off x="1267968" y="1637578"/>
            <a:ext cx="2523744" cy="33752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6E32CB-3274-81E3-B622-A0BCBE8AC597}"/>
              </a:ext>
            </a:extLst>
          </p:cNvPr>
          <p:cNvSpPr/>
          <p:nvPr/>
        </p:nvSpPr>
        <p:spPr>
          <a:xfrm>
            <a:off x="6175218" y="2448346"/>
            <a:ext cx="2523744" cy="33752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97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821B-CB34-9385-73B0-A196CCEA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B9C1-9661-B159-DEA2-73B0BA5C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Home page for “job portal” project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68CAC-1E6F-1914-CB89-EF50147A6D5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We’ll do this: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E9AF43-262B-C5E7-E02C-C8CD29123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125" y="1614234"/>
            <a:ext cx="9497750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584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5AE8-9D0C-227A-86FE-EEE7823B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26F405-94F1-1669-7DF9-838A0D866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jinja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E5011CD7-E9DC-EB64-7FB1-D8DCAFA3FB0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3973093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FE3B4-651D-AC40-2A34-6368BFB7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55D39-D082-B267-A664-C3FCE3D6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JINJA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928433-B25A-1080-B858-DC503C2D18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Jinja is a template engine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Template engine means that we can use the power of programming in HTML files</a:t>
            </a:r>
          </a:p>
          <a:p>
            <a:pPr algn="r"/>
            <a:r>
              <a:rPr lang="en-US" sz="2400" b="1" dirty="0">
                <a:solidFill>
                  <a:srgbClr val="FF0000"/>
                </a:solidFill>
              </a:rPr>
              <a:t>[equal to Razor in C# MVC]</a:t>
            </a:r>
          </a:p>
          <a:p>
            <a:pPr algn="r"/>
            <a:endParaRPr lang="en-US" sz="2400" b="1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400" b="1" dirty="0">
                <a:solidFill>
                  <a:schemeClr val="tx1"/>
                </a:solidFill>
              </a:rPr>
              <a:t>Enable writing python code in html to ease using data in html.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 How do we do that??</a:t>
            </a:r>
          </a:p>
        </p:txBody>
      </p:sp>
    </p:spTree>
    <p:extLst>
      <p:ext uri="{BB962C8B-B14F-4D97-AF65-F5344CB8AC3E}">
        <p14:creationId xmlns:p14="http://schemas.microsoft.com/office/powerpoint/2010/main" val="545024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4F3FC-0CB5-999C-4B73-10F194736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7503-25B1-F443-A6EE-3DC88DB8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JINJA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10703-D17D-4AFB-E842-1C42A217C12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We’ll create a job list page to show list of jobs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tx1"/>
                </a:solidFill>
              </a:rPr>
              <a:t>First, we’ll create page structure “jop-list.html”</a:t>
            </a:r>
          </a:p>
          <a:p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DCF66-C6C9-2703-25F1-4D92BBC55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0" r="4216" b="5328"/>
          <a:stretch>
            <a:fillRect/>
          </a:stretch>
        </p:blipFill>
        <p:spPr>
          <a:xfrm>
            <a:off x="2584704" y="2146420"/>
            <a:ext cx="8119872" cy="426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44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9F52A-FFB7-78F2-64B0-87D7899DB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92C6-E6CD-0466-501D-31AF97246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JINJA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1410D-39B8-20F1-F74A-F69A1265971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>
                <a:solidFill>
                  <a:schemeClr val="tx1"/>
                </a:solidFill>
              </a:rPr>
              <a:t>Create its end point: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F524C-E218-6BD3-4F0E-1E68083D1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7" t="5986" r="13321" b="27718"/>
          <a:stretch>
            <a:fillRect/>
          </a:stretch>
        </p:blipFill>
        <p:spPr>
          <a:xfrm>
            <a:off x="1143000" y="1609344"/>
            <a:ext cx="8453732" cy="282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32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6B3D-D9BA-7E47-444A-4ECCB72E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ABF99-4C55-2CCA-DB2D-145FCBE5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JINJA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B77B5-C04D-552F-BEE0-A4EEBC36908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 dirty="0">
                <a:solidFill>
                  <a:schemeClr val="tx1"/>
                </a:solidFill>
              </a:rPr>
              <a:t>Add custom list of dictionaries of data to your project: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5B5732-0521-89B0-3961-5343C427A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414" y="1447394"/>
            <a:ext cx="4399730" cy="513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132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D1F6-4C77-2233-F7EF-C64E9A10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3AE7-468D-F5A6-1AFC-EF400FFA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JINJA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915A99-8475-582E-83E5-4A2CFFFCC10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 dirty="0">
                <a:solidFill>
                  <a:schemeClr val="tx1"/>
                </a:solidFill>
              </a:rPr>
              <a:t>Send the data to the page and </a:t>
            </a:r>
            <a:r>
              <a:rPr lang="en-US" sz="2400" b="1" dirty="0">
                <a:solidFill>
                  <a:srgbClr val="FF0000"/>
                </a:solidFill>
              </a:rPr>
              <a:t>name it with a name we will use it in the html</a:t>
            </a:r>
            <a:r>
              <a:rPr lang="en-US" sz="2400" b="1" dirty="0">
                <a:solidFill>
                  <a:schemeClr val="tx1"/>
                </a:solidFill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27F270-F68B-F0E1-1362-5458E936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641" y="1708281"/>
            <a:ext cx="8954750" cy="175284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4FCBB70-85AD-C5B4-F59C-D36135FCCB87}"/>
              </a:ext>
            </a:extLst>
          </p:cNvPr>
          <p:cNvSpPr/>
          <p:nvPr/>
        </p:nvSpPr>
        <p:spPr>
          <a:xfrm>
            <a:off x="8107680" y="2414016"/>
            <a:ext cx="816864" cy="6949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705BFF0D-1B3D-9205-712A-E75ED1B4B6AC}"/>
              </a:ext>
            </a:extLst>
          </p:cNvPr>
          <p:cNvCxnSpPr>
            <a:cxnSpLocks/>
            <a:stCxn id="6" idx="4"/>
          </p:cNvCxnSpPr>
          <p:nvPr/>
        </p:nvCxnSpPr>
        <p:spPr>
          <a:xfrm rot="5400000">
            <a:off x="6605717" y="2599243"/>
            <a:ext cx="1400679" cy="2420112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6FD5D42-728D-43E8-6F20-F28026669EF4}"/>
              </a:ext>
            </a:extLst>
          </p:cNvPr>
          <p:cNvSpPr/>
          <p:nvPr/>
        </p:nvSpPr>
        <p:spPr>
          <a:xfrm>
            <a:off x="3194304" y="3767328"/>
            <a:ext cx="2901696" cy="2157984"/>
          </a:xfrm>
          <a:custGeom>
            <a:avLst/>
            <a:gdLst>
              <a:gd name="csX0" fmla="*/ 0 w 2901696"/>
              <a:gd name="csY0" fmla="*/ 1078992 h 2157984"/>
              <a:gd name="csX1" fmla="*/ 1450848 w 2901696"/>
              <a:gd name="csY1" fmla="*/ 0 h 2157984"/>
              <a:gd name="csX2" fmla="*/ 2901696 w 2901696"/>
              <a:gd name="csY2" fmla="*/ 1078992 h 2157984"/>
              <a:gd name="csX3" fmla="*/ 1450848 w 2901696"/>
              <a:gd name="csY3" fmla="*/ 2157984 h 2157984"/>
              <a:gd name="csX4" fmla="*/ 0 w 2901696"/>
              <a:gd name="csY4" fmla="*/ 1078992 h 21579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01696" h="2157984" extrusionOk="0">
                <a:moveTo>
                  <a:pt x="0" y="1078992"/>
                </a:moveTo>
                <a:cubicBezTo>
                  <a:pt x="-10477" y="462698"/>
                  <a:pt x="579232" y="75288"/>
                  <a:pt x="1450848" y="0"/>
                </a:cubicBezTo>
                <a:cubicBezTo>
                  <a:pt x="2312022" y="36058"/>
                  <a:pt x="2886239" y="453747"/>
                  <a:pt x="2901696" y="1078992"/>
                </a:cubicBezTo>
                <a:cubicBezTo>
                  <a:pt x="2875537" y="1669407"/>
                  <a:pt x="2264954" y="2055257"/>
                  <a:pt x="1450848" y="2157984"/>
                </a:cubicBezTo>
                <a:cubicBezTo>
                  <a:pt x="619643" y="2116738"/>
                  <a:pt x="93178" y="1547335"/>
                  <a:pt x="0" y="1078992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172447036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2074B-1AAB-23A6-C480-37AB6B0E64D3}"/>
              </a:ext>
            </a:extLst>
          </p:cNvPr>
          <p:cNvSpPr txBox="1"/>
          <p:nvPr/>
        </p:nvSpPr>
        <p:spPr>
          <a:xfrm>
            <a:off x="3791712" y="4194048"/>
            <a:ext cx="1767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use this name as reference for the list to use it in html file</a:t>
            </a:r>
          </a:p>
        </p:txBody>
      </p:sp>
    </p:spTree>
    <p:extLst>
      <p:ext uri="{BB962C8B-B14F-4D97-AF65-F5344CB8AC3E}">
        <p14:creationId xmlns:p14="http://schemas.microsoft.com/office/powerpoint/2010/main" val="1482226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D2C2-96B1-04A8-A874-A4B720916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40C8-F84B-A8DF-91F7-1FA2ADF8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JINJA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6F4F5-DFD8-EA4C-D808-4CCC852AFCA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 dirty="0">
                <a:solidFill>
                  <a:schemeClr val="tx1"/>
                </a:solidFill>
              </a:rPr>
              <a:t>Go to html and loop through the list: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548E6-A5FC-CC78-15C0-0342D5551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576" y="1658111"/>
            <a:ext cx="8830385" cy="4577073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269EA6-2176-D9D3-07A1-F07E7557DF85}"/>
              </a:ext>
            </a:extLst>
          </p:cNvPr>
          <p:cNvCxnSpPr/>
          <p:nvPr/>
        </p:nvCxnSpPr>
        <p:spPr>
          <a:xfrm>
            <a:off x="4925568" y="2487168"/>
            <a:ext cx="99974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532549-A513-845E-65FB-EA6DCF796206}"/>
              </a:ext>
            </a:extLst>
          </p:cNvPr>
          <p:cNvSpPr txBox="1"/>
          <p:nvPr/>
        </p:nvSpPr>
        <p:spPr>
          <a:xfrm>
            <a:off x="6096000" y="2290310"/>
            <a:ext cx="357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Loop over design by size of jobs list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1C3254-4685-2084-ACF5-4ADE6D0FBC95}"/>
              </a:ext>
            </a:extLst>
          </p:cNvPr>
          <p:cNvCxnSpPr/>
          <p:nvPr/>
        </p:nvCxnSpPr>
        <p:spPr>
          <a:xfrm>
            <a:off x="4370832" y="5771714"/>
            <a:ext cx="99974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50CFDC1-EBDE-8484-45B8-974C291E62FC}"/>
              </a:ext>
            </a:extLst>
          </p:cNvPr>
          <p:cNvSpPr txBox="1"/>
          <p:nvPr/>
        </p:nvSpPr>
        <p:spPr>
          <a:xfrm>
            <a:off x="5541264" y="5574856"/>
            <a:ext cx="138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End of loop</a:t>
            </a:r>
          </a:p>
        </p:txBody>
      </p:sp>
    </p:spTree>
    <p:extLst>
      <p:ext uri="{BB962C8B-B14F-4D97-AF65-F5344CB8AC3E}">
        <p14:creationId xmlns:p14="http://schemas.microsoft.com/office/powerpoint/2010/main" val="2636718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 lines design</Template>
  <TotalTime>824</TotalTime>
  <Words>1094</Words>
  <Application>Microsoft Office PowerPoint</Application>
  <PresentationFormat>Widescreen</PresentationFormat>
  <Paragraphs>155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Univers Condensed Light</vt:lpstr>
      <vt:lpstr>Walbaum Display Light</vt:lpstr>
      <vt:lpstr>Wingdings</vt:lpstr>
      <vt:lpstr>AngleLinesVTI</vt:lpstr>
      <vt:lpstr>Software Architecture And Design</vt:lpstr>
      <vt:lpstr>AGENDA</vt:lpstr>
      <vt:lpstr>Reading routes</vt:lpstr>
      <vt:lpstr>URL components</vt:lpstr>
      <vt:lpstr>URL components</vt:lpstr>
      <vt:lpstr>Endpoint structure</vt:lpstr>
      <vt:lpstr>Endpoint structure</vt:lpstr>
      <vt:lpstr>File structure</vt:lpstr>
      <vt:lpstr>File structure</vt:lpstr>
      <vt:lpstr>HTML, CSS, JS and Bootstrap</vt:lpstr>
      <vt:lpstr>Home page for “job portal” project</vt:lpstr>
      <vt:lpstr>Home page for “job portal” project</vt:lpstr>
      <vt:lpstr>Home page for “job portal” project</vt:lpstr>
      <vt:lpstr>jinja</vt:lpstr>
      <vt:lpstr>JINJA</vt:lpstr>
      <vt:lpstr>JINJA</vt:lpstr>
      <vt:lpstr>JINJA</vt:lpstr>
      <vt:lpstr>JINJA</vt:lpstr>
      <vt:lpstr>JINJA</vt:lpstr>
      <vt:lpstr>JINJA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Mariam Malak</dc:creator>
  <cp:lastModifiedBy>Mariam Malak</cp:lastModifiedBy>
  <cp:revision>5</cp:revision>
  <dcterms:created xsi:type="dcterms:W3CDTF">2026-02-13T17:42:51Z</dcterms:created>
  <dcterms:modified xsi:type="dcterms:W3CDTF">2026-02-21T17:20:43Z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